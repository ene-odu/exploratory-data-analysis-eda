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7" r:id="rId2"/>
    <p:sldId id="257" r:id="rId3"/>
    <p:sldId id="269" r:id="rId4"/>
    <p:sldId id="258" r:id="rId5"/>
    <p:sldId id="273" r:id="rId6"/>
    <p:sldId id="271" r:id="rId7"/>
    <p:sldId id="274" r:id="rId8"/>
    <p:sldId id="260" r:id="rId9"/>
    <p:sldId id="270" r:id="rId10"/>
    <p:sldId id="261" r:id="rId11"/>
    <p:sldId id="275" r:id="rId12"/>
    <p:sldId id="262" r:id="rId13"/>
    <p:sldId id="276" r:id="rId14"/>
    <p:sldId id="263" r:id="rId15"/>
    <p:sldId id="277" r:id="rId16"/>
    <p:sldId id="264" r:id="rId17"/>
    <p:sldId id="26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31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6672" y="847166"/>
            <a:ext cx="3271266" cy="2606427"/>
          </a:xfrm>
        </p:spPr>
        <p:txBody>
          <a:bodyPr anchor="b">
            <a:normAutofit/>
          </a:bodyPr>
          <a:lstStyle>
            <a:lvl1pPr algn="l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6673" y="3548502"/>
            <a:ext cx="3154680" cy="888439"/>
          </a:xfrm>
        </p:spPr>
        <p:txBody>
          <a:bodyPr anchor="t"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938713" cy="51435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6672" y="4839752"/>
            <a:ext cx="1280719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132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9" Type="http://schemas.openxmlformats.org/officeDocument/2006/relationships/image" Target="../media/image4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50.sv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57.svg"/><Relationship Id="rId5" Type="http://schemas.openxmlformats.org/officeDocument/2006/relationships/image" Target="../media/image52.svg"/><Relationship Id="rId10" Type="http://schemas.openxmlformats.org/officeDocument/2006/relationships/image" Target="../media/image56.svg"/><Relationship Id="rId4" Type="http://schemas.openxmlformats.org/officeDocument/2006/relationships/image" Target="../media/image51.jpeg"/><Relationship Id="rId9" Type="http://schemas.openxmlformats.org/officeDocument/2006/relationships/image" Target="../media/image5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6672" y="847166"/>
            <a:ext cx="3271266" cy="2606427"/>
          </a:xfrm>
        </p:spPr>
        <p:txBody>
          <a:bodyPr anchor="b">
            <a:normAutofit/>
          </a:bodyPr>
          <a:lstStyle/>
          <a:p>
            <a:r>
              <a:rPr lang="en-US" sz="3450" dirty="0"/>
              <a:t>Exploratory Data Analysis</a:t>
            </a:r>
            <a:br>
              <a:rPr lang="en-US" sz="3450" dirty="0"/>
            </a:br>
            <a:r>
              <a:rPr lang="en-US" sz="3450" dirty="0"/>
              <a:t>- Key Findings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6673" y="3548502"/>
            <a:ext cx="3154680" cy="888439"/>
          </a:xfrm>
        </p:spPr>
        <p:txBody>
          <a:bodyPr anchor="t">
            <a:norm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962944-94BC-B484-211D-5BB592EA7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5" r="2371" b="3"/>
          <a:stretch>
            <a:fillRect/>
          </a:stretch>
        </p:blipFill>
        <p:spPr>
          <a:xfrm>
            <a:off x="0" y="4271"/>
            <a:ext cx="4938713" cy="51349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750" y="0"/>
            <a:ext cx="2000250" cy="2000250"/>
          </a:xfrm>
          <a:prstGeom prst="ellipse">
            <a:avLst/>
          </a:prstGeom>
          <a:gradFill rotWithShape="1">
            <a:gsLst>
              <a:gs pos="0">
                <a:srgbClr val="1E6FBA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571280"/>
            <a:ext cx="1572220" cy="1572220"/>
          </a:xfrm>
          <a:prstGeom prst="ellipse">
            <a:avLst/>
          </a:prstGeom>
          <a:gradFill rotWithShape="1">
            <a:gsLst>
              <a:gs pos="0">
                <a:srgbClr val="1E6FBA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455837"/>
            <a:ext cx="2590352" cy="29170"/>
          </a:xfrm>
          <a:custGeom>
            <a:avLst/>
            <a:gdLst/>
            <a:ahLst/>
            <a:cxnLst/>
            <a:rect l="l" t="t" r="r" b="b"/>
            <a:pathLst>
              <a:path w="2590352" h="29170">
                <a:moveTo>
                  <a:pt x="114300" y="0"/>
                </a:moveTo>
                <a:lnTo>
                  <a:pt x="2476052" y="0"/>
                </a:lnTo>
                <a:lnTo>
                  <a:pt x="2504692" y="3646"/>
                </a:lnTo>
                <a:lnTo>
                  <a:pt x="2516226" y="7293"/>
                </a:lnTo>
                <a:lnTo>
                  <a:pt x="2524847" y="10939"/>
                </a:lnTo>
                <a:lnTo>
                  <a:pt x="2531922" y="14585"/>
                </a:lnTo>
                <a:lnTo>
                  <a:pt x="2537982" y="18231"/>
                </a:lnTo>
                <a:lnTo>
                  <a:pt x="2543303" y="21878"/>
                </a:lnTo>
                <a:lnTo>
                  <a:pt x="2548048" y="25524"/>
                </a:lnTo>
                <a:lnTo>
                  <a:pt x="2552324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1E6FB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76749" y="1455837"/>
            <a:ext cx="2590352" cy="29170"/>
          </a:xfrm>
          <a:custGeom>
            <a:avLst/>
            <a:gdLst/>
            <a:ahLst/>
            <a:cxnLst/>
            <a:rect l="l" t="t" r="r" b="b"/>
            <a:pathLst>
              <a:path w="2590352" h="29170">
                <a:moveTo>
                  <a:pt x="114300" y="0"/>
                </a:moveTo>
                <a:lnTo>
                  <a:pt x="2476052" y="0"/>
                </a:lnTo>
                <a:lnTo>
                  <a:pt x="2504692" y="3646"/>
                </a:lnTo>
                <a:lnTo>
                  <a:pt x="2516226" y="7293"/>
                </a:lnTo>
                <a:lnTo>
                  <a:pt x="2524847" y="10939"/>
                </a:lnTo>
                <a:lnTo>
                  <a:pt x="2531922" y="14585"/>
                </a:lnTo>
                <a:lnTo>
                  <a:pt x="2537982" y="18231"/>
                </a:lnTo>
                <a:lnTo>
                  <a:pt x="2543303" y="21878"/>
                </a:lnTo>
                <a:lnTo>
                  <a:pt x="2548048" y="25524"/>
                </a:lnTo>
                <a:lnTo>
                  <a:pt x="2552324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1E6FB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86773" y="1455837"/>
            <a:ext cx="2590505" cy="29170"/>
          </a:xfrm>
          <a:custGeom>
            <a:avLst/>
            <a:gdLst/>
            <a:ahLst/>
            <a:cxnLst/>
            <a:rect l="l" t="t" r="r" b="b"/>
            <a:pathLst>
              <a:path w="2590505" h="29170">
                <a:moveTo>
                  <a:pt x="114300" y="0"/>
                </a:moveTo>
                <a:lnTo>
                  <a:pt x="2476205" y="0"/>
                </a:lnTo>
                <a:lnTo>
                  <a:pt x="2504845" y="3646"/>
                </a:lnTo>
                <a:lnTo>
                  <a:pt x="2516378" y="7293"/>
                </a:lnTo>
                <a:lnTo>
                  <a:pt x="2525000" y="10939"/>
                </a:lnTo>
                <a:lnTo>
                  <a:pt x="2532075" y="14585"/>
                </a:lnTo>
                <a:lnTo>
                  <a:pt x="2538135" y="18231"/>
                </a:lnTo>
                <a:lnTo>
                  <a:pt x="2543455" y="21878"/>
                </a:lnTo>
                <a:lnTo>
                  <a:pt x="2548200" y="25524"/>
                </a:lnTo>
                <a:lnTo>
                  <a:pt x="255247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1E6FB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2248"/>
            <a:ext cx="345579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0920" y="54026"/>
            <a:ext cx="6558409" cy="5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2030" b="1" kern="0" spc="-30" dirty="0">
                <a:solidFill>
                  <a:srgbClr val="1A2744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Overview of </a:t>
            </a:r>
            <a:r>
              <a:rPr lang="en-US" sz="2030" b="1" kern="0" spc="-30" dirty="0">
                <a:solidFill>
                  <a:srgbClr val="1E6FBA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MetroMove</a:t>
            </a:r>
            <a:r>
              <a:rPr lang="en-US" sz="2030" b="1" kern="0" spc="-30" dirty="0">
                <a:solidFill>
                  <a:srgbClr val="1A2744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 Transit Solutions</a:t>
            </a:r>
            <a:endParaRPr lang="en-US" sz="2030" b="1" dirty="0">
              <a:latin typeface="Britannic Bold" panose="020B0903060703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30920" y="695325"/>
            <a:ext cx="571500" cy="29170"/>
          </a:xfrm>
          <a:prstGeom prst="roundRect">
            <a:avLst>
              <a:gd name="adj" fmla="val 47892"/>
            </a:avLst>
          </a:prstGeom>
          <a:solidFill>
            <a:srgbClr val="1E6FB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810816"/>
            <a:ext cx="8220078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spcBef>
                <a:spcPts val="340"/>
              </a:spcBef>
              <a:spcAft>
                <a:spcPts val="2030"/>
              </a:spcAft>
              <a:buNone/>
            </a:pPr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transportation service provider operating across multiple cities - managing thousands of daily trips to deliver efficient, affordable, and timely transit for every passenger.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1446312"/>
            <a:ext cx="2609404" cy="2215009"/>
          </a:xfrm>
          <a:prstGeom prst="roundRect">
            <a:avLst>
              <a:gd name="adj" fmla="val 5160"/>
            </a:avLst>
          </a:prstGeom>
          <a:solidFill>
            <a:srgbClr val="F0F6FC"/>
          </a:solidFill>
          <a:ln w="9525">
            <a:solidFill>
              <a:srgbClr val="DCE8F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7345" y="1713607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1E6FBA"/>
          </a:solidFill>
          <a:ln/>
          <a:effectLst>
            <a:outerShdw blurRad="100330" dist="29210" dir="5400000" algn="bl" rotWithShape="0">
              <a:srgbClr val="1E6FBA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063" y="1838325"/>
            <a:ext cx="150465" cy="1504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345" y="2241798"/>
            <a:ext cx="240802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spcAft>
                <a:spcPts val="560"/>
              </a:spcAft>
              <a:buNone/>
            </a:pPr>
            <a:r>
              <a:rPr lang="en-US" sz="140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Multi-City</a:t>
            </a:r>
            <a:r>
              <a:rPr lang="en-US" sz="113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67345" y="2474714"/>
            <a:ext cx="2232895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seamless transit services across multiple metropolitan areas, connecting communities and enabling urban mobility at scale.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62121" y="3269605"/>
            <a:ext cx="532834" cy="153591"/>
          </a:xfrm>
          <a:prstGeom prst="roundRect">
            <a:avLst>
              <a:gd name="adj" fmla="val 93437"/>
            </a:avLst>
          </a:prstGeom>
          <a:solidFill>
            <a:srgbClr val="E8F2F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6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680" dirty="0"/>
          </a:p>
        </p:txBody>
      </p:sp>
      <p:sp>
        <p:nvSpPr>
          <p:cNvPr id="17" name="Text 13"/>
          <p:cNvSpPr/>
          <p:nvPr/>
        </p:nvSpPr>
        <p:spPr>
          <a:xfrm>
            <a:off x="1240703" y="3269605"/>
            <a:ext cx="630293" cy="153591"/>
          </a:xfrm>
          <a:prstGeom prst="roundRect">
            <a:avLst>
              <a:gd name="adj" fmla="val 93437"/>
            </a:avLst>
          </a:prstGeom>
          <a:solidFill>
            <a:srgbClr val="E8F2F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6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3267224" y="1446312"/>
            <a:ext cx="2609404" cy="2215009"/>
          </a:xfrm>
          <a:prstGeom prst="roundRect">
            <a:avLst>
              <a:gd name="adj" fmla="val 5160"/>
            </a:avLst>
          </a:prstGeom>
          <a:solidFill>
            <a:srgbClr val="F0F6FC"/>
          </a:solidFill>
          <a:ln w="9525">
            <a:solidFill>
              <a:srgbClr val="DCE8F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477369" y="1713607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1E6FBA"/>
          </a:solidFill>
          <a:ln/>
          <a:effectLst>
            <a:outerShdw blurRad="100330" dist="29210" dir="5400000" algn="bl" rotWithShape="0">
              <a:srgbClr val="1E6FBA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2087" y="1838325"/>
            <a:ext cx="150465" cy="1504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77369" y="2241798"/>
            <a:ext cx="240802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spcAft>
                <a:spcPts val="560"/>
              </a:spcAft>
              <a:buNone/>
            </a:pPr>
            <a:r>
              <a:rPr lang="en-US" sz="140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</a:t>
            </a:r>
            <a:r>
              <a:rPr lang="en-US" sz="113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Transport</a:t>
            </a:r>
            <a:r>
              <a:rPr lang="en-US" sz="113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477369" y="2431093"/>
            <a:ext cx="2232895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an integrated network of buses, trains, ferries, and trams — giving riders flexible options for every journey.</a:t>
            </a:r>
          </a:p>
          <a:p>
            <a:pPr marL="0" indent="0" algn="l">
              <a:lnSpc>
                <a:spcPts val="1312"/>
              </a:lnSpc>
              <a:buNone/>
            </a:pPr>
            <a:endParaRPr lang="en-US" sz="1200" dirty="0">
              <a:solidFill>
                <a:srgbClr val="5A6A7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ts val="1312"/>
              </a:lnSpc>
              <a:buNone/>
            </a:pP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122" y="3095634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477369" y="3242518"/>
            <a:ext cx="14766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56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1067" y="3095634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682603" y="3242518"/>
            <a:ext cx="18663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56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5740" y="3095634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23258" y="3242518"/>
            <a:ext cx="19547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Ferry</a:t>
            </a:r>
            <a:endParaRPr lang="en-US" sz="56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0562" y="3095634"/>
            <a:ext cx="132588" cy="1325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171950" y="3242518"/>
            <a:ext cx="18679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</a:t>
            </a:r>
            <a:endParaRPr lang="en-US" sz="560" dirty="0"/>
          </a:p>
        </p:txBody>
      </p:sp>
      <p:sp>
        <p:nvSpPr>
          <p:cNvPr id="31" name="Text 22"/>
          <p:cNvSpPr/>
          <p:nvPr/>
        </p:nvSpPr>
        <p:spPr>
          <a:xfrm>
            <a:off x="6077248" y="1446312"/>
            <a:ext cx="2609552" cy="2215009"/>
          </a:xfrm>
          <a:prstGeom prst="roundRect">
            <a:avLst>
              <a:gd name="adj" fmla="val 5160"/>
            </a:avLst>
          </a:prstGeom>
          <a:solidFill>
            <a:srgbClr val="F0F6FC"/>
          </a:solidFill>
          <a:ln w="9525">
            <a:solidFill>
              <a:srgbClr val="DCE8F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6287393" y="1713607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1E6FBA"/>
          </a:solidFill>
          <a:ln/>
          <a:effectLst>
            <a:outerShdw blurRad="100330" dist="29210" dir="5400000" algn="bl" rotWithShape="0">
              <a:srgbClr val="1E6FBA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2111" y="1838325"/>
            <a:ext cx="150465" cy="15046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287393" y="2241798"/>
            <a:ext cx="24081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spcAft>
                <a:spcPts val="560"/>
              </a:spcAft>
              <a:buNone/>
            </a:pPr>
            <a:r>
              <a:rPr lang="en-US" sz="140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Data-Driven</a:t>
            </a:r>
            <a:r>
              <a:rPr lang="en-US" sz="113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Mission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6287393" y="2474714"/>
            <a:ext cx="2233047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analytics and operational data to continuously improve passenger experience, optimize routes, and enhance service reliability</a:t>
            </a:r>
            <a:r>
              <a:rPr lang="en-US" sz="8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20" dirty="0"/>
          </a:p>
        </p:txBody>
      </p:sp>
      <p:sp>
        <p:nvSpPr>
          <p:cNvPr id="36" name="Text 26"/>
          <p:cNvSpPr/>
          <p:nvPr/>
        </p:nvSpPr>
        <p:spPr>
          <a:xfrm rot="10800000" flipV="1">
            <a:off x="6281834" y="3256509"/>
            <a:ext cx="566991" cy="246309"/>
          </a:xfrm>
          <a:prstGeom prst="roundRect">
            <a:avLst>
              <a:gd name="adj" fmla="val 93437"/>
            </a:avLst>
          </a:prstGeom>
          <a:solidFill>
            <a:srgbClr val="E8F2F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6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80" dirty="0"/>
          </a:p>
        </p:txBody>
      </p:sp>
      <p:sp>
        <p:nvSpPr>
          <p:cNvPr id="37" name="Text 27"/>
          <p:cNvSpPr/>
          <p:nvPr/>
        </p:nvSpPr>
        <p:spPr>
          <a:xfrm>
            <a:off x="6907570" y="3328243"/>
            <a:ext cx="708321" cy="118320"/>
          </a:xfrm>
          <a:prstGeom prst="roundRect">
            <a:avLst>
              <a:gd name="adj" fmla="val 93437"/>
            </a:avLst>
          </a:prstGeom>
          <a:solidFill>
            <a:srgbClr val="E8F2F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6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680" dirty="0"/>
          </a:p>
        </p:txBody>
      </p:sp>
      <p:sp>
        <p:nvSpPr>
          <p:cNvPr id="38" name="Text 28"/>
          <p:cNvSpPr/>
          <p:nvPr/>
        </p:nvSpPr>
        <p:spPr>
          <a:xfrm>
            <a:off x="457200" y="3889920"/>
            <a:ext cx="8229600" cy="523861"/>
          </a:xfrm>
          <a:prstGeom prst="roundRect">
            <a:avLst>
              <a:gd name="adj" fmla="val 20746"/>
            </a:avLst>
          </a:prstGeom>
          <a:gradFill rotWithShape="1">
            <a:gsLst>
              <a:gs pos="0">
                <a:srgbClr val="1E6FBA"/>
              </a:gs>
              <a:gs pos="100000">
                <a:srgbClr val="154E85"/>
              </a:gs>
            </a:gsLst>
            <a:lin ang="2700000" scaled="1"/>
          </a:gradFill>
          <a:ln/>
          <a:effectLst>
            <a:outerShdw blurRad="143510" dist="43180" dir="5400000" algn="bl" rotWithShape="0">
              <a:srgbClr val="1E6FBA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3800" y="4031688"/>
            <a:ext cx="132588" cy="13258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28689" y="4031688"/>
            <a:ext cx="7591752" cy="146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 efficient, affordable, and timely public transportation — using data to elevate every ride and</a:t>
            </a:r>
          </a:p>
          <a:p>
            <a:pPr marL="0" indent="0" algn="l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route across every city we serve</a:t>
            </a:r>
            <a:r>
              <a:rPr lang="en-US" sz="8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8950" y="0"/>
            <a:ext cx="6118093" cy="51435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5902" y="1379913"/>
            <a:ext cx="6118095" cy="376326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047384" y="-24848"/>
            <a:ext cx="5143499" cy="5192552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FAA846-066D-5A15-1A17-7C864236F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41" y="342900"/>
            <a:ext cx="4362517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30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AB0C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00610" y="3086100"/>
            <a:ext cx="4143970" cy="13841"/>
          </a:xfrm>
          <a:prstGeom prst="rect">
            <a:avLst/>
          </a:prstGeom>
          <a:gradFill rotWithShape="1">
            <a:gsLst>
              <a:gs pos="0">
                <a:srgbClr val="2980B9">
                  <a:alpha val="5000"/>
                </a:srgbClr>
              </a:gs>
              <a:gs pos="33333">
                <a:srgbClr val="2980B9">
                  <a:alpha val="25000"/>
                </a:srgbClr>
              </a:gs>
              <a:gs pos="66667">
                <a:srgbClr val="2980B9">
                  <a:alpha val="25000"/>
                </a:srgbClr>
              </a:gs>
              <a:gs pos="100000">
                <a:srgbClr val="2980B9">
                  <a:alpha val="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35471"/>
            <a:ext cx="905256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"/>
              </a:lnSpc>
              <a:spcBef>
                <a:spcPts val="730"/>
              </a:spcBef>
              <a:spcAft>
                <a:spcPts val="730"/>
              </a:spcAft>
              <a:buNone/>
            </a:pPr>
            <a:r>
              <a:rPr lang="en-US" sz="730" b="1" kern="0" spc="17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METROMOVE TRANSIT SOLUTIONS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457200" y="632817"/>
            <a:ext cx="400050" cy="29170"/>
          </a:xfrm>
          <a:prstGeom prst="roundRect">
            <a:avLst>
              <a:gd name="adj" fmla="val 47892"/>
            </a:avLst>
          </a:prstGeom>
          <a:solidFill>
            <a:srgbClr val="2980B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719138"/>
            <a:ext cx="880567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buNone/>
            </a:pPr>
            <a:r>
              <a:rPr lang="en-US" sz="2250" kern="0" spc="-30" dirty="0">
                <a:solidFill>
                  <a:srgbClr val="1A2332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Data Cleaning Summary</a:t>
            </a:r>
            <a:endParaRPr lang="en-US" sz="2250" dirty="0">
              <a:latin typeface="Britannic Bold" panose="020B0903060703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104900"/>
            <a:ext cx="90525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450"/>
              </a:spcBef>
              <a:buNone/>
            </a:pPr>
            <a:r>
              <a:rPr lang="en-US" sz="96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pipeline preparing raw trip data for analysis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457200" y="1718816"/>
            <a:ext cx="1906935" cy="3253829"/>
          </a:xfrm>
          <a:prstGeom prst="roundRect">
            <a:avLst>
              <a:gd name="adj" fmla="val 5994"/>
            </a:avLst>
          </a:prstGeom>
          <a:solidFill>
            <a:srgbClr val="FFFFFF"/>
          </a:solidFill>
          <a:ln w="9525">
            <a:solidFill>
              <a:srgbClr val="2980B9">
                <a:alpha val="15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8175" y="1600200"/>
            <a:ext cx="257770" cy="283547"/>
          </a:xfrm>
          <a:prstGeom prst="ellipse">
            <a:avLst/>
          </a:prstGeom>
          <a:solidFill>
            <a:srgbClr val="2980B9"/>
          </a:solidFill>
          <a:ln/>
          <a:effectLst>
            <a:outerShdw blurRad="114300" dist="29210" dir="5400000" algn="bl" rotWithShape="0">
              <a:srgbClr val="2980B9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010" dirty="0"/>
          </a:p>
        </p:txBody>
      </p:sp>
      <p:sp>
        <p:nvSpPr>
          <p:cNvPr id="10" name="Text 8"/>
          <p:cNvSpPr/>
          <p:nvPr/>
        </p:nvSpPr>
        <p:spPr>
          <a:xfrm>
            <a:off x="638175" y="1928961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341" y="2020127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8175" y="2480072"/>
            <a:ext cx="1699483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Bef>
                <a:spcPts val="1070"/>
              </a:spcBef>
              <a:spcAft>
                <a:spcPts val="1070"/>
              </a:spcAft>
              <a:buNone/>
            </a:pPr>
            <a:r>
              <a:rPr lang="en-US" sz="1070" b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Removed Noise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638175" y="2849910"/>
            <a:ext cx="1575884" cy="2038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2 columns (</a:t>
            </a:r>
            <a:r>
              <a:rPr lang="en-US" sz="82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Unnamed: 10 &amp; 11</a:t>
            </a: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with extremely high null values and no meaningful information.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2564755" y="1718816"/>
            <a:ext cx="1906935" cy="3253829"/>
          </a:xfrm>
          <a:prstGeom prst="roundRect">
            <a:avLst>
              <a:gd name="adj" fmla="val 5994"/>
            </a:avLst>
          </a:prstGeom>
          <a:solidFill>
            <a:srgbClr val="FFFFFF"/>
          </a:solidFill>
          <a:ln w="9525">
            <a:solidFill>
              <a:srgbClr val="2980B9">
                <a:alpha val="15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745730" y="1600200"/>
            <a:ext cx="257770" cy="283547"/>
          </a:xfrm>
          <a:prstGeom prst="ellipse">
            <a:avLst/>
          </a:prstGeom>
          <a:solidFill>
            <a:srgbClr val="2980B9"/>
          </a:solidFill>
          <a:ln/>
          <a:effectLst>
            <a:outerShdw blurRad="114300" dist="29210" dir="5400000" algn="bl" rotWithShape="0">
              <a:srgbClr val="2980B9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2745730" y="1928961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6896" y="2020127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45730" y="2480072"/>
            <a:ext cx="1699483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Bef>
                <a:spcPts val="1070"/>
              </a:spcBef>
              <a:spcAft>
                <a:spcPts val="1070"/>
              </a:spcAft>
              <a:buNone/>
            </a:pPr>
            <a:r>
              <a:rPr lang="en-US" sz="1070" b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Imputed Missing Values</a:t>
            </a:r>
            <a:endParaRPr lang="en-US" sz="1070" dirty="0"/>
          </a:p>
        </p:txBody>
      </p:sp>
      <p:sp>
        <p:nvSpPr>
          <p:cNvPr id="19" name="Text 15"/>
          <p:cNvSpPr/>
          <p:nvPr/>
        </p:nvSpPr>
        <p:spPr>
          <a:xfrm>
            <a:off x="2745730" y="2849910"/>
            <a:ext cx="1575884" cy="2038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Passenger_Count</a:t>
            </a: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imputed with 0 (real-world valid). </a:t>
            </a:r>
            <a:r>
              <a:rPr lang="en-US" sz="82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Fare_Amount</a:t>
            </a: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82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Trip_Duration</a:t>
            </a: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imputed with mean due to minimal mean-median difference.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4672310" y="1718816"/>
            <a:ext cx="1906935" cy="3253829"/>
          </a:xfrm>
          <a:prstGeom prst="roundRect">
            <a:avLst>
              <a:gd name="adj" fmla="val 5994"/>
            </a:avLst>
          </a:prstGeom>
          <a:solidFill>
            <a:srgbClr val="FFFFFF"/>
          </a:solidFill>
          <a:ln w="9525">
            <a:solidFill>
              <a:srgbClr val="2980B9">
                <a:alpha val="15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853285" y="1600200"/>
            <a:ext cx="257770" cy="283547"/>
          </a:xfrm>
          <a:prstGeom prst="ellipse">
            <a:avLst/>
          </a:prstGeom>
          <a:solidFill>
            <a:srgbClr val="2980B9"/>
          </a:solidFill>
          <a:ln/>
          <a:effectLst>
            <a:outerShdw blurRad="114300" dist="29210" dir="5400000" algn="bl" rotWithShape="0">
              <a:srgbClr val="2980B9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010" dirty="0"/>
          </a:p>
        </p:txBody>
      </p:sp>
      <p:sp>
        <p:nvSpPr>
          <p:cNvPr id="22" name="Text 18"/>
          <p:cNvSpPr/>
          <p:nvPr/>
        </p:nvSpPr>
        <p:spPr>
          <a:xfrm>
            <a:off x="4853285" y="1928961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4451" y="2020127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53285" y="2480072"/>
            <a:ext cx="1575884" cy="342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4"/>
              </a:lnSpc>
              <a:spcBef>
                <a:spcPts val="1070"/>
              </a:spcBef>
              <a:spcAft>
                <a:spcPts val="1070"/>
              </a:spcAft>
              <a:buNone/>
            </a:pPr>
            <a:r>
              <a:rPr lang="en-US" sz="1070" b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Standardized Categories</a:t>
            </a:r>
            <a:endParaRPr lang="en-US" sz="1070" dirty="0"/>
          </a:p>
        </p:txBody>
      </p:sp>
      <p:sp>
        <p:nvSpPr>
          <p:cNvPr id="25" name="Text 20"/>
          <p:cNvSpPr/>
          <p:nvPr/>
        </p:nvSpPr>
        <p:spPr>
          <a:xfrm>
            <a:off x="4853285" y="3116907"/>
            <a:ext cx="1575884" cy="847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spcBef>
                <a:spcPts val="820"/>
              </a:spcBef>
              <a:spcAft>
                <a:spcPts val="820"/>
              </a:spcAft>
              <a:buNone/>
            </a:pP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whitespace and applied consistent casing to all categorical columns for uniform text representation across the dataset.</a:t>
            </a:r>
            <a:endParaRPr lang="en-US" sz="820" dirty="0"/>
          </a:p>
        </p:txBody>
      </p:sp>
      <p:sp>
        <p:nvSpPr>
          <p:cNvPr id="26" name="Text 21"/>
          <p:cNvSpPr/>
          <p:nvPr/>
        </p:nvSpPr>
        <p:spPr>
          <a:xfrm>
            <a:off x="6779865" y="1718816"/>
            <a:ext cx="1906935" cy="3253829"/>
          </a:xfrm>
          <a:prstGeom prst="roundRect">
            <a:avLst>
              <a:gd name="adj" fmla="val 5994"/>
            </a:avLst>
          </a:prstGeom>
          <a:solidFill>
            <a:srgbClr val="FFFFFF"/>
          </a:solidFill>
          <a:ln w="9525">
            <a:solidFill>
              <a:srgbClr val="2980B9">
                <a:alpha val="15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960840" y="1600200"/>
            <a:ext cx="257770" cy="283547"/>
          </a:xfrm>
          <a:prstGeom prst="ellipse">
            <a:avLst/>
          </a:prstGeom>
          <a:solidFill>
            <a:srgbClr val="2980B9"/>
          </a:solidFill>
          <a:ln/>
          <a:effectLst>
            <a:outerShdw blurRad="114300" dist="29210" dir="5400000" algn="bl" rotWithShape="0">
              <a:srgbClr val="2980B9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010" dirty="0"/>
          </a:p>
        </p:txBody>
      </p:sp>
      <p:sp>
        <p:nvSpPr>
          <p:cNvPr id="28" name="Text 23"/>
          <p:cNvSpPr/>
          <p:nvPr/>
        </p:nvSpPr>
        <p:spPr>
          <a:xfrm>
            <a:off x="6960840" y="1928961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2006" y="2020127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60840" y="2480072"/>
            <a:ext cx="1699483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Bef>
                <a:spcPts val="1070"/>
              </a:spcBef>
              <a:spcAft>
                <a:spcPts val="1070"/>
              </a:spcAft>
              <a:buNone/>
            </a:pPr>
            <a:r>
              <a:rPr lang="en-US" sz="1070" b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Engineering</a:t>
            </a:r>
            <a:endParaRPr lang="en-US" sz="1070" dirty="0"/>
          </a:p>
        </p:txBody>
      </p:sp>
      <p:sp>
        <p:nvSpPr>
          <p:cNvPr id="31" name="Text 25"/>
          <p:cNvSpPr/>
          <p:nvPr/>
        </p:nvSpPr>
        <p:spPr>
          <a:xfrm>
            <a:off x="6960840" y="2849910"/>
            <a:ext cx="1575884" cy="2038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Regenerated </a:t>
            </a:r>
            <a:r>
              <a:rPr lang="en-US" sz="82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Trip_Date to fix inconsistencies. Added </a:t>
            </a:r>
            <a:r>
              <a:rPr lang="en-US" sz="82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Month</a:t>
            </a: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2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Day</a:t>
            </a: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2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Time</a:t>
            </a: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82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new derived features.</a:t>
            </a:r>
            <a:endParaRPr lang="en-US" sz="820" dirty="0"/>
          </a:p>
        </p:txBody>
      </p:sp>
      <p:sp>
        <p:nvSpPr>
          <p:cNvPr id="32" name="Text 26"/>
          <p:cNvSpPr/>
          <p:nvPr/>
        </p:nvSpPr>
        <p:spPr>
          <a:xfrm>
            <a:off x="457200" y="4794498"/>
            <a:ext cx="2983706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980B9">
                  <a:alpha val="70000"/>
                </a:srgbClr>
              </a:gs>
              <a:gs pos="100000">
                <a:srgbClr val="2980B9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3527227" y="4752975"/>
            <a:ext cx="229850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→ ANALYSIS-READY DATASET</a:t>
            </a:r>
            <a:endParaRPr lang="en-US" sz="730" dirty="0"/>
          </a:p>
        </p:txBody>
      </p:sp>
      <p:sp>
        <p:nvSpPr>
          <p:cNvPr id="34" name="Text 28"/>
          <p:cNvSpPr/>
          <p:nvPr/>
        </p:nvSpPr>
        <p:spPr>
          <a:xfrm>
            <a:off x="5703094" y="4794498"/>
            <a:ext cx="2983706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980B9">
                  <a:alpha val="70000"/>
                </a:srgbClr>
              </a:gs>
              <a:gs pos="100000">
                <a:srgbClr val="2980B9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332F55-CFE9-9E4C-7A56-E289DF1A9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Info </a:t>
            </a: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</a:t>
            </a: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ollowing Data Cleaning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37EE2-96A2-B3C1-3AC0-36BB271C6D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" b="-1"/>
          <a:stretch>
            <a:fillRect/>
          </a:stretch>
        </p:blipFill>
        <p:spPr>
          <a:xfrm>
            <a:off x="3376821" y="1143686"/>
            <a:ext cx="5419311" cy="285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2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52114C-B369-5845-A551-B42BEDDE7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</a:rPr>
              <a:t>Months Captured on Data Set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55FEDC-C6F0-4607-B4CC-C6814E96F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277" y="350406"/>
            <a:ext cx="4640398" cy="444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7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66CC8-FACE-53C6-44F2-05F1FC160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324" y="859809"/>
            <a:ext cx="6760761" cy="18015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kern="1200" dirty="0">
                <a:solidFill>
                  <a:schemeClr val="tx1"/>
                </a:solidFill>
                <a:latin typeface="Britannic Bold" panose="020B0903060703020204" pitchFamily="34" charset="0"/>
              </a:rPr>
              <a:t>Insights Generated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3280915"/>
            <a:ext cx="9144005" cy="186258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3280915"/>
            <a:ext cx="3038508" cy="1862585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3284571"/>
            <a:ext cx="9143988" cy="1465446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3285695"/>
            <a:ext cx="9144000" cy="1514582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0A776-34AF-FF8A-D709-66DE3275A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323" y="3669541"/>
            <a:ext cx="4790367" cy="8086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Univariate and Bivariate Analysis Outputs</a:t>
            </a:r>
          </a:p>
        </p:txBody>
      </p:sp>
    </p:spTree>
    <p:extLst>
      <p:ext uri="{BB962C8B-B14F-4D97-AF65-F5344CB8AC3E}">
        <p14:creationId xmlns:p14="http://schemas.microsoft.com/office/powerpoint/2010/main" val="82709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980B9">
                  <a:alpha val="6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90000" t="20000" r="1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0E8F0">
                  <a:alpha val="80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" t="80000" r="9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204317"/>
            <a:ext cx="4010025" cy="21580"/>
          </a:xfrm>
          <a:custGeom>
            <a:avLst/>
            <a:gdLst/>
            <a:ahLst/>
            <a:cxnLst/>
            <a:rect l="l" t="t" r="r" b="b"/>
            <a:pathLst>
              <a:path w="4010025" h="21580">
                <a:moveTo>
                  <a:pt x="100330" y="0"/>
                </a:moveTo>
                <a:lnTo>
                  <a:pt x="3909695" y="0"/>
                </a:lnTo>
                <a:lnTo>
                  <a:pt x="3932804" y="2698"/>
                </a:lnTo>
                <a:lnTo>
                  <a:pt x="3942152" y="5395"/>
                </a:lnTo>
                <a:lnTo>
                  <a:pt x="3949171" y="8093"/>
                </a:lnTo>
                <a:lnTo>
                  <a:pt x="3954958" y="10790"/>
                </a:lnTo>
                <a:lnTo>
                  <a:pt x="3959940" y="13488"/>
                </a:lnTo>
                <a:lnTo>
                  <a:pt x="3964337" y="16185"/>
                </a:lnTo>
                <a:lnTo>
                  <a:pt x="3968282" y="18883"/>
                </a:lnTo>
                <a:lnTo>
                  <a:pt x="397186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2980B9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1204317"/>
            <a:ext cx="4010025" cy="21580"/>
          </a:xfrm>
          <a:custGeom>
            <a:avLst/>
            <a:gdLst/>
            <a:ahLst/>
            <a:cxnLst/>
            <a:rect l="l" t="t" r="r" b="b"/>
            <a:pathLst>
              <a:path w="4010025" h="21580">
                <a:moveTo>
                  <a:pt x="100330" y="0"/>
                </a:moveTo>
                <a:lnTo>
                  <a:pt x="3909695" y="0"/>
                </a:lnTo>
                <a:lnTo>
                  <a:pt x="3932804" y="2698"/>
                </a:lnTo>
                <a:lnTo>
                  <a:pt x="3942152" y="5395"/>
                </a:lnTo>
                <a:lnTo>
                  <a:pt x="3949171" y="8093"/>
                </a:lnTo>
                <a:lnTo>
                  <a:pt x="3954958" y="10790"/>
                </a:lnTo>
                <a:lnTo>
                  <a:pt x="3959940" y="13488"/>
                </a:lnTo>
                <a:lnTo>
                  <a:pt x="3964337" y="16185"/>
                </a:lnTo>
                <a:lnTo>
                  <a:pt x="3968282" y="18883"/>
                </a:lnTo>
                <a:lnTo>
                  <a:pt x="397186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2980B9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3035945"/>
            <a:ext cx="4010025" cy="21580"/>
          </a:xfrm>
          <a:custGeom>
            <a:avLst/>
            <a:gdLst/>
            <a:ahLst/>
            <a:cxnLst/>
            <a:rect l="l" t="t" r="r" b="b"/>
            <a:pathLst>
              <a:path w="4010025" h="21580">
                <a:moveTo>
                  <a:pt x="100330" y="0"/>
                </a:moveTo>
                <a:lnTo>
                  <a:pt x="3909695" y="0"/>
                </a:lnTo>
                <a:lnTo>
                  <a:pt x="3932804" y="2698"/>
                </a:lnTo>
                <a:lnTo>
                  <a:pt x="3942152" y="5395"/>
                </a:lnTo>
                <a:lnTo>
                  <a:pt x="3949171" y="8093"/>
                </a:lnTo>
                <a:lnTo>
                  <a:pt x="3954958" y="10790"/>
                </a:lnTo>
                <a:lnTo>
                  <a:pt x="3959940" y="13488"/>
                </a:lnTo>
                <a:lnTo>
                  <a:pt x="3964337" y="16185"/>
                </a:lnTo>
                <a:lnTo>
                  <a:pt x="3968282" y="18883"/>
                </a:lnTo>
                <a:lnTo>
                  <a:pt x="397186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2980B9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0" y="3035945"/>
            <a:ext cx="4010025" cy="21580"/>
          </a:xfrm>
          <a:custGeom>
            <a:avLst/>
            <a:gdLst/>
            <a:ahLst/>
            <a:cxnLst/>
            <a:rect l="l" t="t" r="r" b="b"/>
            <a:pathLst>
              <a:path w="4010025" h="21580">
                <a:moveTo>
                  <a:pt x="100330" y="0"/>
                </a:moveTo>
                <a:lnTo>
                  <a:pt x="3909695" y="0"/>
                </a:lnTo>
                <a:lnTo>
                  <a:pt x="3932804" y="2698"/>
                </a:lnTo>
                <a:lnTo>
                  <a:pt x="3942152" y="5395"/>
                </a:lnTo>
                <a:lnTo>
                  <a:pt x="3949171" y="8093"/>
                </a:lnTo>
                <a:lnTo>
                  <a:pt x="3954958" y="10790"/>
                </a:lnTo>
                <a:lnTo>
                  <a:pt x="3959940" y="13488"/>
                </a:lnTo>
                <a:lnTo>
                  <a:pt x="3964337" y="16185"/>
                </a:lnTo>
                <a:lnTo>
                  <a:pt x="3968282" y="18883"/>
                </a:lnTo>
                <a:lnTo>
                  <a:pt x="397186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2980B9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497086"/>
            <a:ext cx="35421" cy="285750"/>
          </a:xfrm>
          <a:prstGeom prst="roundRect">
            <a:avLst>
              <a:gd name="adj" fmla="val 60953"/>
            </a:avLst>
          </a:pr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2931" y="342900"/>
            <a:ext cx="470763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30" dirty="0">
                <a:solidFill>
                  <a:srgbClr val="1A2332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Univariate Findings: Categorical Variables</a:t>
            </a:r>
            <a:endParaRPr lang="en-US" sz="1800" dirty="0">
              <a:latin typeface="Britannic Bold" panose="020B09030607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2931" y="716161"/>
            <a:ext cx="48396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1400" kern="0" spc="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patterns across transport modes, stations &amp; temporal dimensions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194792"/>
            <a:ext cx="4029075" cy="1660178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 w="9525">
            <a:solidFill>
              <a:srgbClr val="2980B9">
                <a:alpha val="12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1335" y="1404938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282" y="1506885"/>
            <a:ext cx="139005" cy="13900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24545" y="1500188"/>
            <a:ext cx="132605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1400" b="1" kern="0" spc="1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of Transport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1335" y="1848148"/>
            <a:ext cx="3652421" cy="676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most frequently used mode, followed by Ferry and Train.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 is the least used.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Road-based transport dominates the network.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1335" y="2578745"/>
            <a:ext cx="393888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DOMINANT: BUS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187428" y="264363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245769" y="264363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304109" y="264363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187428" y="270197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245769" y="270197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304109" y="270197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657725" y="1194792"/>
            <a:ext cx="4029075" cy="1660178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 w="9525">
            <a:solidFill>
              <a:srgbClr val="2980B9">
                <a:alpha val="12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81860" y="1404938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3807" y="1506885"/>
            <a:ext cx="139005" cy="13900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25070" y="1500188"/>
            <a:ext cx="127645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1400" b="1" kern="0" spc="1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Station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881860" y="1848148"/>
            <a:ext cx="3652421" cy="676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highest departures, serving as a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hub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network. South Point has the fewest departures.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881860" y="2578745"/>
            <a:ext cx="393888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CENTRAL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8387953" y="264363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8446294" y="264363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8504634" y="264363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8387953" y="270197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8446294" y="270197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8504634" y="270197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08086" y="2986546"/>
            <a:ext cx="4029075" cy="183133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2980B9">
                <a:alpha val="12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81335" y="323656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282" y="3338513"/>
            <a:ext cx="139005" cy="139005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124545" y="3331815"/>
            <a:ext cx="104152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1400" b="1" kern="0" spc="1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Station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681335" y="3679775"/>
            <a:ext cx="3652421" cy="856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receives the most arrivals despite not being the top departure point — indicating it is a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destination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North Station has the lowest arrivals.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81335" y="4581525"/>
            <a:ext cx="393888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DESTINATION: AIRPORT</a:t>
            </a:r>
            <a:endParaRPr lang="en-US" sz="650" dirty="0"/>
          </a:p>
        </p:txBody>
      </p:sp>
      <p:sp>
        <p:nvSpPr>
          <p:cNvPr id="41" name="Text 36"/>
          <p:cNvSpPr/>
          <p:nvPr/>
        </p:nvSpPr>
        <p:spPr>
          <a:xfrm>
            <a:off x="4187428" y="464641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4245769" y="464641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4304109" y="464641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4187428" y="470475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4245769" y="470475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4304109" y="470475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4657725" y="3026420"/>
            <a:ext cx="4029075" cy="183133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2980B9">
                <a:alpha val="12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4881860" y="323656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3807" y="3338513"/>
            <a:ext cx="139005" cy="139005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5325070" y="3331815"/>
            <a:ext cx="132360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1400" b="1" kern="0" spc="1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</a:t>
            </a:r>
            <a:endParaRPr lang="en-US" sz="1400" dirty="0"/>
          </a:p>
        </p:txBody>
      </p:sp>
      <p:sp>
        <p:nvSpPr>
          <p:cNvPr id="51" name="Text 45"/>
          <p:cNvSpPr/>
          <p:nvPr/>
        </p:nvSpPr>
        <p:spPr>
          <a:xfrm>
            <a:off x="4881860" y="3679775"/>
            <a:ext cx="3652421" cy="856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accounts for significantly more trips than February. Daily trip counts are stable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Mon–Sat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only a small dip on Sundays.</a:t>
            </a:r>
            <a:endParaRPr lang="en-US" sz="1200" dirty="0"/>
          </a:p>
        </p:txBody>
      </p:sp>
      <p:sp>
        <p:nvSpPr>
          <p:cNvPr id="52" name="Text 46"/>
          <p:cNvSpPr/>
          <p:nvPr/>
        </p:nvSpPr>
        <p:spPr>
          <a:xfrm>
            <a:off x="4881860" y="4581525"/>
            <a:ext cx="393888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JANUARY</a:t>
            </a:r>
            <a:endParaRPr lang="en-US" sz="650" dirty="0"/>
          </a:p>
        </p:txBody>
      </p:sp>
      <p:sp>
        <p:nvSpPr>
          <p:cNvPr id="53" name="Text 47"/>
          <p:cNvSpPr/>
          <p:nvPr/>
        </p:nvSpPr>
        <p:spPr>
          <a:xfrm>
            <a:off x="8387953" y="464641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8446294" y="464641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8504634" y="4646414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8387953" y="470475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8446294" y="470475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8504634" y="4704755"/>
            <a:ext cx="29170" cy="29170"/>
          </a:xfrm>
          <a:prstGeom prst="ellipse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40CAB4-3BE5-8A07-C305-1A03B84BE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52" y="130049"/>
            <a:ext cx="4273770" cy="4883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0A4752-5436-3831-DBAB-FFCAA73C0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22" y="130049"/>
            <a:ext cx="3911801" cy="2419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DB8EE8-0828-928A-2330-605804E85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577" y="2571750"/>
            <a:ext cx="3848298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49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7520"/>
            <a:ext cx="342900" cy="21580"/>
          </a:xfrm>
          <a:prstGeom prst="roundRect">
            <a:avLst>
              <a:gd name="adj" fmla="val 64736"/>
            </a:avLst>
          </a:prstGeom>
          <a:solidFill>
            <a:srgbClr val="2980B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14350"/>
            <a:ext cx="8805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230"/>
              </a:spcAft>
              <a:buNone/>
            </a:pPr>
            <a:r>
              <a:rPr lang="en-US" sz="1800" kern="0" spc="-30" dirty="0">
                <a:solidFill>
                  <a:srgbClr val="1A2332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Univariate Findings: </a:t>
            </a:r>
            <a:r>
              <a:rPr lang="en-US" sz="1800" b="1" kern="0" spc="-30" dirty="0">
                <a:solidFill>
                  <a:srgbClr val="1A2332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Numerical Variables</a:t>
            </a:r>
            <a:endParaRPr lang="en-US" sz="1800" dirty="0">
              <a:latin typeface="Britannic Bold" panose="020B0903060703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10220"/>
            <a:ext cx="90525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characteristics across key numeric features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457200" y="1125142"/>
            <a:ext cx="4029075" cy="1852166"/>
          </a:xfrm>
          <a:prstGeom prst="roundRect">
            <a:avLst>
              <a:gd name="adj" fmla="val 3967"/>
            </a:avLst>
          </a:prstGeom>
          <a:solidFill>
            <a:srgbClr val="FFFFFF"/>
          </a:solidFill>
          <a:ln w="9525">
            <a:solidFill>
              <a:srgbClr val="2980B9">
                <a:alpha val="13000"/>
              </a:srgbClr>
            </a:solidFill>
          </a:ln>
          <a:effectLst>
            <a:outerShdw blurRad="228600" dist="29210" dir="5400000" algn="bl" rotWithShape="0">
              <a:srgbClr val="2980B9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7345" y="1363266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501" y="1468422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345" y="1898898"/>
            <a:ext cx="396966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"/>
              </a:lnSpc>
              <a:spcBef>
                <a:spcPts val="730"/>
              </a:spcBef>
              <a:spcAft>
                <a:spcPts val="730"/>
              </a:spcAft>
              <a:buNone/>
            </a:pPr>
            <a:r>
              <a:rPr lang="en-US" sz="730" b="1" kern="0" spc="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COUNT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667345" y="2395835"/>
            <a:ext cx="386139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 Occupancy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0024" y="2664171"/>
            <a:ext cx="3969663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0"/>
              </a:lnSpc>
              <a:spcBef>
                <a:spcPts val="820"/>
              </a:spcBef>
              <a:spcAft>
                <a:spcPts val="820"/>
              </a:spcAft>
              <a:buNone/>
            </a:pP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low values — solo or low-occupancy trips are the norm.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667345" y="3439120"/>
            <a:ext cx="43160" cy="200620"/>
          </a:xfrm>
          <a:prstGeom prst="roundRect">
            <a:avLst>
              <a:gd name="adj" fmla="val 32368"/>
            </a:avLst>
          </a:prstGeom>
          <a:solidFill>
            <a:srgbClr val="2980B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24346" y="3489275"/>
            <a:ext cx="43160" cy="150465"/>
          </a:xfrm>
          <a:prstGeom prst="roundRect">
            <a:avLst>
              <a:gd name="adj" fmla="val 32368"/>
            </a:avLst>
          </a:prstGeom>
          <a:solidFill>
            <a:srgbClr val="2980B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81348" y="3559522"/>
            <a:ext cx="43160" cy="80218"/>
          </a:xfrm>
          <a:prstGeom prst="ellipse">
            <a:avLst/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38349" y="3595688"/>
            <a:ext cx="43160" cy="44053"/>
          </a:xfrm>
          <a:prstGeom prst="ellipse">
            <a:avLst/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95350" y="3615779"/>
            <a:ext cx="43160" cy="23961"/>
          </a:xfrm>
          <a:prstGeom prst="ellipse">
            <a:avLst/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952351" y="3623816"/>
            <a:ext cx="43160" cy="15925"/>
          </a:xfrm>
          <a:prstGeom prst="roundRect">
            <a:avLst>
              <a:gd name="adj" fmla="val 87724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09352" y="3629769"/>
            <a:ext cx="43160" cy="9971"/>
          </a:xfrm>
          <a:prstGeom prst="roundRect">
            <a:avLst>
              <a:gd name="adj" fmla="val 140107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66354" y="3633788"/>
            <a:ext cx="43160" cy="5953"/>
          </a:xfrm>
          <a:prstGeom prst="roundRect">
            <a:avLst>
              <a:gd name="adj" fmla="val 234672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123355" y="3635871"/>
            <a:ext cx="43160" cy="3870"/>
          </a:xfrm>
          <a:prstGeom prst="roundRect">
            <a:avLst>
              <a:gd name="adj" fmla="val 360983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180356" y="3637806"/>
            <a:ext cx="43160" cy="1935"/>
          </a:xfrm>
          <a:prstGeom prst="roundRect">
            <a:avLst>
              <a:gd name="adj" fmla="val 721965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657725" y="1125141"/>
            <a:ext cx="4029075" cy="1852167"/>
          </a:xfrm>
          <a:prstGeom prst="roundRect">
            <a:avLst>
              <a:gd name="adj" fmla="val 3967"/>
            </a:avLst>
          </a:prstGeom>
          <a:solidFill>
            <a:srgbClr val="FFFFFF"/>
          </a:solidFill>
          <a:ln w="9525">
            <a:solidFill>
              <a:srgbClr val="2980B9">
                <a:alpha val="13000"/>
              </a:srgbClr>
            </a:solidFill>
          </a:ln>
          <a:effectLst>
            <a:outerShdw blurRad="228600" dist="29210" dir="5400000" algn="bl" rotWithShape="0">
              <a:srgbClr val="2980B9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867870" y="1363266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3026" y="1468422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867870" y="1898898"/>
            <a:ext cx="396966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"/>
              </a:lnSpc>
              <a:spcBef>
                <a:spcPts val="730"/>
              </a:spcBef>
              <a:spcAft>
                <a:spcPts val="730"/>
              </a:spcAft>
              <a:buNone/>
            </a:pPr>
            <a:r>
              <a:rPr lang="en-US" sz="730" b="1" kern="0" spc="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AMOUNT</a:t>
            </a:r>
            <a:endParaRPr lang="en-US" sz="730" dirty="0"/>
          </a:p>
        </p:txBody>
      </p:sp>
      <p:sp>
        <p:nvSpPr>
          <p:cNvPr id="25" name="Text 21"/>
          <p:cNvSpPr/>
          <p:nvPr/>
        </p:nvSpPr>
        <p:spPr>
          <a:xfrm>
            <a:off x="4867870" y="2395835"/>
            <a:ext cx="386139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25–30 units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4792503" y="2664171"/>
            <a:ext cx="3969663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0"/>
              </a:lnSpc>
              <a:spcBef>
                <a:spcPts val="820"/>
              </a:spcBef>
              <a:spcAft>
                <a:spcPts val="820"/>
              </a:spcAft>
              <a:buNone/>
            </a:pP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fare range is 25–30 units; some higher fares occur infrequently.</a:t>
            </a:r>
            <a:endParaRPr lang="en-US" sz="820" dirty="0"/>
          </a:p>
        </p:txBody>
      </p:sp>
      <p:sp>
        <p:nvSpPr>
          <p:cNvPr id="27" name="Text 23"/>
          <p:cNvSpPr/>
          <p:nvPr/>
        </p:nvSpPr>
        <p:spPr>
          <a:xfrm>
            <a:off x="4867870" y="3623816"/>
            <a:ext cx="43160" cy="15925"/>
          </a:xfrm>
          <a:prstGeom prst="roundRect">
            <a:avLst>
              <a:gd name="adj" fmla="val 87724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924871" y="3603724"/>
            <a:ext cx="43160" cy="36016"/>
          </a:xfrm>
          <a:prstGeom prst="ellipse">
            <a:avLst/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981873" y="3559522"/>
            <a:ext cx="43160" cy="80218"/>
          </a:xfrm>
          <a:prstGeom prst="ellipse">
            <a:avLst/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038874" y="3499396"/>
            <a:ext cx="43160" cy="140345"/>
          </a:xfrm>
          <a:prstGeom prst="roundRect">
            <a:avLst>
              <a:gd name="adj" fmla="val 32368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095875" y="3439120"/>
            <a:ext cx="43160" cy="200620"/>
          </a:xfrm>
          <a:prstGeom prst="roundRect">
            <a:avLst>
              <a:gd name="adj" fmla="val 32368"/>
            </a:avLst>
          </a:prstGeom>
          <a:solidFill>
            <a:srgbClr val="2980B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152876" y="3455194"/>
            <a:ext cx="43160" cy="184547"/>
          </a:xfrm>
          <a:prstGeom prst="roundRect">
            <a:avLst>
              <a:gd name="adj" fmla="val 32368"/>
            </a:avLst>
          </a:prstGeom>
          <a:solidFill>
            <a:srgbClr val="2980B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266879" y="3589586"/>
            <a:ext cx="43160" cy="50155"/>
          </a:xfrm>
          <a:prstGeom prst="ellipse">
            <a:avLst/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5323880" y="3615779"/>
            <a:ext cx="43160" cy="23961"/>
          </a:xfrm>
          <a:prstGeom prst="ellipse">
            <a:avLst/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5380881" y="3629769"/>
            <a:ext cx="43160" cy="9971"/>
          </a:xfrm>
          <a:prstGeom prst="roundRect">
            <a:avLst>
              <a:gd name="adj" fmla="val 140107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57200" y="3090978"/>
            <a:ext cx="4029075" cy="1667652"/>
          </a:xfrm>
          <a:prstGeom prst="roundRect">
            <a:avLst>
              <a:gd name="adj" fmla="val 11834"/>
            </a:avLst>
          </a:prstGeom>
          <a:solidFill>
            <a:srgbClr val="FFFFFF"/>
          </a:solidFill>
          <a:ln w="9525">
            <a:solidFill>
              <a:srgbClr val="2980B9">
                <a:alpha val="13000"/>
              </a:srgbClr>
            </a:solidFill>
          </a:ln>
          <a:effectLst>
            <a:outerShdw blurRad="228600" dist="29210" dir="5400000" algn="bl" rotWithShape="0">
              <a:srgbClr val="2980B9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536976" y="318146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31" y="3284645"/>
            <a:ext cx="132588" cy="13258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21914" y="3539430"/>
            <a:ext cx="396966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"/>
              </a:lnSpc>
              <a:spcBef>
                <a:spcPts val="730"/>
              </a:spcBef>
              <a:spcAft>
                <a:spcPts val="730"/>
              </a:spcAft>
              <a:buNone/>
            </a:pPr>
            <a:r>
              <a:rPr lang="en-US" sz="730" b="1" kern="0" spc="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</a:t>
            </a:r>
            <a:endParaRPr lang="en-US" sz="730" dirty="0"/>
          </a:p>
        </p:txBody>
      </p:sp>
      <p:sp>
        <p:nvSpPr>
          <p:cNvPr id="41" name="Text 36"/>
          <p:cNvSpPr/>
          <p:nvPr/>
        </p:nvSpPr>
        <p:spPr>
          <a:xfrm>
            <a:off x="548182" y="3674897"/>
            <a:ext cx="386139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~100 min</a:t>
            </a:r>
            <a:endParaRPr lang="en-US" sz="1800" dirty="0"/>
          </a:p>
        </p:txBody>
      </p:sp>
      <p:sp>
        <p:nvSpPr>
          <p:cNvPr id="42" name="Text 37"/>
          <p:cNvSpPr/>
          <p:nvPr/>
        </p:nvSpPr>
        <p:spPr>
          <a:xfrm>
            <a:off x="580024" y="4425472"/>
            <a:ext cx="3680960" cy="32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spcBef>
                <a:spcPts val="820"/>
              </a:spcBef>
              <a:spcAft>
                <a:spcPts val="820"/>
              </a:spcAft>
              <a:buNone/>
            </a:pP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around 100 minutes with a clear central mass — fairly consistent durations.</a:t>
            </a:r>
            <a:endParaRPr lang="en-US" sz="820" dirty="0"/>
          </a:p>
        </p:txBody>
      </p:sp>
      <p:sp>
        <p:nvSpPr>
          <p:cNvPr id="43" name="Text 38"/>
          <p:cNvSpPr/>
          <p:nvPr/>
        </p:nvSpPr>
        <p:spPr>
          <a:xfrm>
            <a:off x="4637008" y="3132831"/>
            <a:ext cx="4029075" cy="1591637"/>
          </a:xfrm>
          <a:prstGeom prst="roundRect">
            <a:avLst>
              <a:gd name="adj" fmla="val 11834"/>
            </a:avLst>
          </a:prstGeom>
          <a:solidFill>
            <a:srgbClr val="FFFFFF"/>
          </a:solidFill>
          <a:ln w="9525">
            <a:solidFill>
              <a:srgbClr val="2980B9">
                <a:alpha val="13000"/>
              </a:srgbClr>
            </a:solidFill>
          </a:ln>
          <a:effectLst>
            <a:outerShdw blurRad="228600" dist="29210" dir="5400000" algn="bl" rotWithShape="0">
              <a:srgbClr val="2980B9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4789318" y="325767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4474" y="3346554"/>
            <a:ext cx="132588" cy="13258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780077" y="3619557"/>
            <a:ext cx="396966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"/>
              </a:lnSpc>
              <a:spcBef>
                <a:spcPts val="730"/>
              </a:spcBef>
              <a:spcAft>
                <a:spcPts val="730"/>
              </a:spcAft>
              <a:buNone/>
            </a:pPr>
            <a:r>
              <a:rPr lang="en-US" sz="730" b="1" kern="0" spc="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HOUR</a:t>
            </a:r>
            <a:endParaRPr lang="en-US" sz="730" dirty="0"/>
          </a:p>
        </p:txBody>
      </p:sp>
      <p:sp>
        <p:nvSpPr>
          <p:cNvPr id="47" name="Text 41"/>
          <p:cNvSpPr/>
          <p:nvPr/>
        </p:nvSpPr>
        <p:spPr>
          <a:xfrm>
            <a:off x="4792503" y="3716610"/>
            <a:ext cx="386139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Scheduled Pattern</a:t>
            </a:r>
            <a:endParaRPr lang="en-US" sz="1800" dirty="0"/>
          </a:p>
        </p:txBody>
      </p:sp>
      <p:sp>
        <p:nvSpPr>
          <p:cNvPr id="48" name="Text 42"/>
          <p:cNvSpPr/>
          <p:nvPr/>
        </p:nvSpPr>
        <p:spPr>
          <a:xfrm>
            <a:off x="4831782" y="4410554"/>
            <a:ext cx="3680960" cy="32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spcBef>
                <a:spcPts val="820"/>
              </a:spcBef>
              <a:spcAft>
                <a:spcPts val="820"/>
              </a:spcAft>
              <a:buNone/>
            </a:pPr>
            <a:r>
              <a:rPr lang="en-US" sz="8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Departures follow a timetable-like structure, suggesting periodic/scheduled services.</a:t>
            </a:r>
            <a:endParaRPr lang="en-US" sz="820" dirty="0"/>
          </a:p>
        </p:txBody>
      </p:sp>
      <p:sp>
        <p:nvSpPr>
          <p:cNvPr id="49" name="Text 43"/>
          <p:cNvSpPr/>
          <p:nvPr/>
        </p:nvSpPr>
        <p:spPr>
          <a:xfrm>
            <a:off x="457200" y="7202091"/>
            <a:ext cx="185026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kern="0" spc="6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METROMOVE TRANSIT SOLUTIONS</a:t>
            </a:r>
            <a:endParaRPr lang="en-US" sz="680" dirty="0"/>
          </a:p>
        </p:txBody>
      </p:sp>
      <p:sp>
        <p:nvSpPr>
          <p:cNvPr id="50" name="Text 44"/>
          <p:cNvSpPr/>
          <p:nvPr/>
        </p:nvSpPr>
        <p:spPr>
          <a:xfrm>
            <a:off x="466725" y="1134666"/>
            <a:ext cx="4010025" cy="29170"/>
          </a:xfrm>
          <a:custGeom>
            <a:avLst/>
            <a:gdLst/>
            <a:ahLst/>
            <a:cxnLst/>
            <a:rect l="l" t="t" r="r" b="b"/>
            <a:pathLst>
              <a:path w="4010025" h="29170">
                <a:moveTo>
                  <a:pt x="114300" y="0"/>
                </a:moveTo>
                <a:lnTo>
                  <a:pt x="3895725" y="0"/>
                </a:lnTo>
                <a:lnTo>
                  <a:pt x="3924365" y="3646"/>
                </a:lnTo>
                <a:lnTo>
                  <a:pt x="3935898" y="7293"/>
                </a:lnTo>
                <a:lnTo>
                  <a:pt x="3944520" y="10939"/>
                </a:lnTo>
                <a:lnTo>
                  <a:pt x="3951595" y="14585"/>
                </a:lnTo>
                <a:lnTo>
                  <a:pt x="3957655" y="18231"/>
                </a:lnTo>
                <a:lnTo>
                  <a:pt x="3962975" y="21878"/>
                </a:lnTo>
                <a:lnTo>
                  <a:pt x="3967720" y="25524"/>
                </a:lnTo>
                <a:lnTo>
                  <a:pt x="397199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2980B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3905250" y="3425133"/>
            <a:ext cx="857250" cy="857250"/>
          </a:xfrm>
          <a:prstGeom prst="ellipse">
            <a:avLst/>
          </a:prstGeom>
          <a:solidFill>
            <a:srgbClr val="2980B9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4667250" y="1134666"/>
            <a:ext cx="4010025" cy="29170"/>
          </a:xfrm>
          <a:custGeom>
            <a:avLst/>
            <a:gdLst/>
            <a:ahLst/>
            <a:cxnLst/>
            <a:rect l="l" t="t" r="r" b="b"/>
            <a:pathLst>
              <a:path w="4010025" h="29170">
                <a:moveTo>
                  <a:pt x="114300" y="0"/>
                </a:moveTo>
                <a:lnTo>
                  <a:pt x="3895725" y="0"/>
                </a:lnTo>
                <a:lnTo>
                  <a:pt x="3924365" y="3646"/>
                </a:lnTo>
                <a:lnTo>
                  <a:pt x="3935898" y="7293"/>
                </a:lnTo>
                <a:lnTo>
                  <a:pt x="3944520" y="10939"/>
                </a:lnTo>
                <a:lnTo>
                  <a:pt x="3951595" y="14585"/>
                </a:lnTo>
                <a:lnTo>
                  <a:pt x="3957655" y="18231"/>
                </a:lnTo>
                <a:lnTo>
                  <a:pt x="3962975" y="21878"/>
                </a:lnTo>
                <a:lnTo>
                  <a:pt x="3967720" y="25524"/>
                </a:lnTo>
                <a:lnTo>
                  <a:pt x="397199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2980B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8105775" y="3425133"/>
            <a:ext cx="857250" cy="857250"/>
          </a:xfrm>
          <a:prstGeom prst="ellipse">
            <a:avLst/>
          </a:prstGeom>
          <a:solidFill>
            <a:srgbClr val="2980B9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457149" y="3107964"/>
            <a:ext cx="4010025" cy="29170"/>
          </a:xfrm>
          <a:custGeom>
            <a:avLst/>
            <a:gdLst/>
            <a:ahLst/>
            <a:cxnLst/>
            <a:rect l="l" t="t" r="r" b="b"/>
            <a:pathLst>
              <a:path w="4010025" h="29170">
                <a:moveTo>
                  <a:pt x="114300" y="0"/>
                </a:moveTo>
                <a:lnTo>
                  <a:pt x="3895725" y="0"/>
                </a:lnTo>
                <a:lnTo>
                  <a:pt x="3924365" y="3646"/>
                </a:lnTo>
                <a:lnTo>
                  <a:pt x="3935898" y="7293"/>
                </a:lnTo>
                <a:lnTo>
                  <a:pt x="3944520" y="10939"/>
                </a:lnTo>
                <a:lnTo>
                  <a:pt x="3951595" y="14585"/>
                </a:lnTo>
                <a:lnTo>
                  <a:pt x="3957655" y="18231"/>
                </a:lnTo>
                <a:lnTo>
                  <a:pt x="3962975" y="21878"/>
                </a:lnTo>
                <a:lnTo>
                  <a:pt x="3967720" y="25524"/>
                </a:lnTo>
                <a:lnTo>
                  <a:pt x="397199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2980B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4631706" y="3144144"/>
            <a:ext cx="4010025" cy="29170"/>
          </a:xfrm>
          <a:custGeom>
            <a:avLst/>
            <a:gdLst/>
            <a:ahLst/>
            <a:cxnLst/>
            <a:rect l="l" t="t" r="r" b="b"/>
            <a:pathLst>
              <a:path w="4010025" h="29170">
                <a:moveTo>
                  <a:pt x="114300" y="0"/>
                </a:moveTo>
                <a:lnTo>
                  <a:pt x="3895725" y="0"/>
                </a:lnTo>
                <a:lnTo>
                  <a:pt x="3924365" y="3646"/>
                </a:lnTo>
                <a:lnTo>
                  <a:pt x="3935898" y="7293"/>
                </a:lnTo>
                <a:lnTo>
                  <a:pt x="3944520" y="10939"/>
                </a:lnTo>
                <a:lnTo>
                  <a:pt x="3951595" y="14585"/>
                </a:lnTo>
                <a:lnTo>
                  <a:pt x="3957655" y="18231"/>
                </a:lnTo>
                <a:lnTo>
                  <a:pt x="3962975" y="21878"/>
                </a:lnTo>
                <a:lnTo>
                  <a:pt x="3967720" y="25524"/>
                </a:lnTo>
                <a:lnTo>
                  <a:pt x="397199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2980B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0FA720-47E1-E9E9-34F3-9F2018050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19425"/>
            <a:ext cx="3971037" cy="210464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59968" y="857250"/>
            <a:ext cx="0" cy="3429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2A5999D-D504-12EA-0F74-2646470B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309" y="482600"/>
            <a:ext cx="3823142" cy="41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18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750" y="0"/>
            <a:ext cx="2000250" cy="2000250"/>
          </a:xfrm>
          <a:prstGeom prst="ellipse">
            <a:avLst/>
          </a:prstGeom>
          <a:gradFill rotWithShape="1">
            <a:gsLst>
              <a:gs pos="0">
                <a:srgbClr val="2980B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357858"/>
            <a:ext cx="1929108" cy="1785642"/>
          </a:xfrm>
          <a:prstGeom prst="ellipse">
            <a:avLst/>
          </a:prstGeom>
          <a:gradFill rotWithShape="1">
            <a:gsLst>
              <a:gs pos="0">
                <a:srgbClr val="2980B9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58349" y="571500"/>
            <a:ext cx="43160" cy="43160"/>
          </a:xfrm>
          <a:prstGeom prst="ellipse">
            <a:avLst/>
          </a:prstGeom>
          <a:solidFill>
            <a:srgbClr val="2980B9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42759" y="2429470"/>
            <a:ext cx="29170" cy="29170"/>
          </a:xfrm>
          <a:prstGeom prst="ellipse">
            <a:avLst/>
          </a:prstGeom>
          <a:solidFill>
            <a:srgbClr val="2980B9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80338" y="4321969"/>
            <a:ext cx="35421" cy="35421"/>
          </a:xfrm>
          <a:prstGeom prst="ellipse">
            <a:avLst/>
          </a:prstGeom>
          <a:solidFill>
            <a:srgbClr val="2980B9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900" y="1143000"/>
            <a:ext cx="29170" cy="29170"/>
          </a:xfrm>
          <a:prstGeom prst="ellipse">
            <a:avLst/>
          </a:prstGeom>
          <a:solidFill>
            <a:srgbClr val="2980B9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725" y="1003250"/>
            <a:ext cx="29170" cy="1676848"/>
          </a:xfrm>
          <a:custGeom>
            <a:avLst/>
            <a:gdLst/>
            <a:ahLst/>
            <a:cxnLst/>
            <a:rect l="l" t="t" r="r" b="b"/>
            <a:pathLst>
              <a:path w="29170" h="1676848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655198"/>
                </a:lnTo>
                <a:lnTo>
                  <a:pt x="25524" y="1651782"/>
                </a:lnTo>
                <a:lnTo>
                  <a:pt x="21878" y="1647934"/>
                </a:lnTo>
                <a:lnTo>
                  <a:pt x="18231" y="1643559"/>
                </a:lnTo>
                <a:lnTo>
                  <a:pt x="14585" y="1638513"/>
                </a:lnTo>
                <a:lnTo>
                  <a:pt x="10939" y="1632555"/>
                </a:lnTo>
                <a:lnTo>
                  <a:pt x="7293" y="1625221"/>
                </a:lnTo>
                <a:lnTo>
                  <a:pt x="3646" y="1615317"/>
                </a:lnTo>
                <a:lnTo>
                  <a:pt x="0" y="1590488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53260" y="1003250"/>
            <a:ext cx="29170" cy="1676848"/>
          </a:xfrm>
          <a:custGeom>
            <a:avLst/>
            <a:gdLst/>
            <a:ahLst/>
            <a:cxnLst/>
            <a:rect l="l" t="t" r="r" b="b"/>
            <a:pathLst>
              <a:path w="29170" h="1676848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655198"/>
                </a:lnTo>
                <a:lnTo>
                  <a:pt x="25524" y="1651782"/>
                </a:lnTo>
                <a:lnTo>
                  <a:pt x="21878" y="1647934"/>
                </a:lnTo>
                <a:lnTo>
                  <a:pt x="18231" y="1643559"/>
                </a:lnTo>
                <a:lnTo>
                  <a:pt x="14585" y="1638513"/>
                </a:lnTo>
                <a:lnTo>
                  <a:pt x="10939" y="1632555"/>
                </a:lnTo>
                <a:lnTo>
                  <a:pt x="7293" y="1625221"/>
                </a:lnTo>
                <a:lnTo>
                  <a:pt x="3646" y="1615317"/>
                </a:lnTo>
                <a:lnTo>
                  <a:pt x="0" y="1590488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725" y="2842617"/>
            <a:ext cx="29170" cy="1676848"/>
          </a:xfrm>
          <a:custGeom>
            <a:avLst/>
            <a:gdLst/>
            <a:ahLst/>
            <a:cxnLst/>
            <a:rect l="l" t="t" r="r" b="b"/>
            <a:pathLst>
              <a:path w="29170" h="1676848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655198"/>
                </a:lnTo>
                <a:lnTo>
                  <a:pt x="25524" y="1651782"/>
                </a:lnTo>
                <a:lnTo>
                  <a:pt x="21878" y="1647934"/>
                </a:lnTo>
                <a:lnTo>
                  <a:pt x="18231" y="1643559"/>
                </a:lnTo>
                <a:lnTo>
                  <a:pt x="14585" y="1638513"/>
                </a:lnTo>
                <a:lnTo>
                  <a:pt x="10939" y="1632555"/>
                </a:lnTo>
                <a:lnTo>
                  <a:pt x="7293" y="1625221"/>
                </a:lnTo>
                <a:lnTo>
                  <a:pt x="3646" y="1615317"/>
                </a:lnTo>
                <a:lnTo>
                  <a:pt x="0" y="1590488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53260" y="2842617"/>
            <a:ext cx="29170" cy="1676848"/>
          </a:xfrm>
          <a:custGeom>
            <a:avLst/>
            <a:gdLst/>
            <a:ahLst/>
            <a:cxnLst/>
            <a:rect l="l" t="t" r="r" b="b"/>
            <a:pathLst>
              <a:path w="29170" h="1676848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655198"/>
                </a:lnTo>
                <a:lnTo>
                  <a:pt x="25524" y="1651782"/>
                </a:lnTo>
                <a:lnTo>
                  <a:pt x="21878" y="1647934"/>
                </a:lnTo>
                <a:lnTo>
                  <a:pt x="18231" y="1643559"/>
                </a:lnTo>
                <a:lnTo>
                  <a:pt x="14585" y="1638513"/>
                </a:lnTo>
                <a:lnTo>
                  <a:pt x="10939" y="1632555"/>
                </a:lnTo>
                <a:lnTo>
                  <a:pt x="7293" y="1625221"/>
                </a:lnTo>
                <a:lnTo>
                  <a:pt x="3646" y="1615317"/>
                </a:lnTo>
                <a:lnTo>
                  <a:pt x="0" y="1590488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342900"/>
            <a:ext cx="880567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0"/>
              </a:lnSpc>
              <a:buNone/>
            </a:pPr>
            <a:r>
              <a:rPr lang="en-US" sz="2140" kern="0" spc="-30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r>
              <a:rPr lang="en-US" sz="2140" kern="0" spc="-3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2140" kern="0" spc="-30" dirty="0">
                <a:solidFill>
                  <a:srgbClr val="1A2332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Bivariate Analysis Findings </a:t>
            </a:r>
            <a:r>
              <a:rPr lang="en-US" sz="2140" kern="0" spc="-30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2140" dirty="0"/>
          </a:p>
        </p:txBody>
      </p:sp>
      <p:sp>
        <p:nvSpPr>
          <p:cNvPr id="13" name="Text 11"/>
          <p:cNvSpPr/>
          <p:nvPr/>
        </p:nvSpPr>
        <p:spPr>
          <a:xfrm>
            <a:off x="457200" y="743545"/>
            <a:ext cx="429220" cy="21580"/>
          </a:xfrm>
          <a:prstGeom prst="roundRect">
            <a:avLst>
              <a:gd name="adj" fmla="val 64736"/>
            </a:avLst>
          </a:prstGeom>
          <a:solidFill>
            <a:srgbClr val="2980B9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993725"/>
            <a:ext cx="4043065" cy="1695896"/>
          </a:xfrm>
          <a:prstGeom prst="roundRect">
            <a:avLst>
              <a:gd name="adj" fmla="val 5092"/>
            </a:avLst>
          </a:prstGeom>
          <a:solidFill>
            <a:srgbClr val="FFFFFF"/>
          </a:solidFill>
          <a:ln w="9525">
            <a:solidFill>
              <a:srgbClr val="2980B9">
                <a:alpha val="18000"/>
              </a:srgbClr>
            </a:solidFill>
          </a:ln>
          <a:effectLst>
            <a:outerShdw blurRad="5715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7345" y="1160711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073" y="1271439"/>
            <a:ext cx="150465" cy="15046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10866" y="1296591"/>
            <a:ext cx="338717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0"/>
              </a:lnSpc>
              <a:spcBef>
                <a:spcPts val="1070"/>
              </a:spcBef>
              <a:spcAft>
                <a:spcPts val="1070"/>
              </a:spcAft>
              <a:buNone/>
            </a:pPr>
            <a:r>
              <a:rPr lang="en-US" sz="1400" b="1" kern="0" spc="10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Fare by Transport Mode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10866" y="1584871"/>
            <a:ext cx="3140839" cy="521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fares across Ferry, Tram, Bus, and Train are almost identical — indicating a </a:t>
            </a: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fare structure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network.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43735" y="993725"/>
            <a:ext cx="4043065" cy="1695896"/>
          </a:xfrm>
          <a:prstGeom prst="roundRect">
            <a:avLst>
              <a:gd name="adj" fmla="val 5092"/>
            </a:avLst>
          </a:prstGeom>
          <a:solidFill>
            <a:srgbClr val="FFFFFF"/>
          </a:solidFill>
          <a:ln w="9525">
            <a:solidFill>
              <a:srgbClr val="2980B9">
                <a:alpha val="18000"/>
              </a:srgbClr>
            </a:solidFill>
          </a:ln>
          <a:effectLst>
            <a:outerShdw blurRad="5715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53880" y="1160711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4609" y="1271439"/>
            <a:ext cx="150465" cy="15046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7401" y="1296591"/>
            <a:ext cx="338717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0"/>
              </a:lnSpc>
              <a:spcBef>
                <a:spcPts val="1070"/>
              </a:spcBef>
              <a:spcAft>
                <a:spcPts val="1070"/>
              </a:spcAft>
              <a:buNone/>
            </a:pPr>
            <a:r>
              <a:rPr lang="en-US" sz="1400" b="1" kern="0" spc="10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Trip Duration by Transport Mode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397401" y="1584871"/>
            <a:ext cx="3140839" cy="34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trip durations are very similar across all modes (</a:t>
            </a: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92–96 minutes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no mode is significantly faster or slower.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2833092"/>
            <a:ext cx="4043065" cy="1695896"/>
          </a:xfrm>
          <a:prstGeom prst="roundRect">
            <a:avLst>
              <a:gd name="adj" fmla="val 5092"/>
            </a:avLst>
          </a:prstGeom>
          <a:solidFill>
            <a:srgbClr val="FFFFFF"/>
          </a:solidFill>
          <a:ln w="9525">
            <a:solidFill>
              <a:srgbClr val="2980B9">
                <a:alpha val="18000"/>
              </a:srgbClr>
            </a:solidFill>
          </a:ln>
          <a:effectLst>
            <a:outerShdw blurRad="5715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67345" y="300007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073" y="3110805"/>
            <a:ext cx="150465" cy="15046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10866" y="3135957"/>
            <a:ext cx="338717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0"/>
              </a:lnSpc>
              <a:spcBef>
                <a:spcPts val="1070"/>
              </a:spcBef>
              <a:spcAft>
                <a:spcPts val="1070"/>
              </a:spcAft>
              <a:buNone/>
            </a:pPr>
            <a:r>
              <a:rPr lang="en-US" sz="1400" b="1" kern="0" spc="10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Transport Mode by Period of Day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210866" y="3424238"/>
            <a:ext cx="3140839" cy="521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Ferry peaks in the </a:t>
            </a: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Bus dominates </a:t>
            </a: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&amp; evening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all modes drop at night, and Tram is lowest throughout</a:t>
            </a:r>
            <a:r>
              <a:rPr lang="en-US" sz="87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70" dirty="0"/>
          </a:p>
        </p:txBody>
      </p:sp>
      <p:sp>
        <p:nvSpPr>
          <p:cNvPr id="29" name="Text 24"/>
          <p:cNvSpPr/>
          <p:nvPr/>
        </p:nvSpPr>
        <p:spPr>
          <a:xfrm>
            <a:off x="4643735" y="2833092"/>
            <a:ext cx="4043065" cy="1695896"/>
          </a:xfrm>
          <a:prstGeom prst="roundRect">
            <a:avLst>
              <a:gd name="adj" fmla="val 5092"/>
            </a:avLst>
          </a:prstGeom>
          <a:solidFill>
            <a:srgbClr val="FFFFFF"/>
          </a:solidFill>
          <a:ln w="9525">
            <a:solidFill>
              <a:srgbClr val="2980B9">
                <a:alpha val="18000"/>
              </a:srgbClr>
            </a:solidFill>
          </a:ln>
          <a:effectLst>
            <a:outerShdw blurRad="5715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853880" y="300007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4609" y="3110805"/>
            <a:ext cx="150465" cy="15046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397401" y="3135957"/>
            <a:ext cx="338717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0"/>
              </a:lnSpc>
              <a:spcBef>
                <a:spcPts val="1070"/>
              </a:spcBef>
              <a:spcAft>
                <a:spcPts val="1070"/>
              </a:spcAft>
              <a:buNone/>
            </a:pPr>
            <a:r>
              <a:rPr lang="en-US" sz="1400" b="1" kern="0" spc="10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Passenger Count by Day of Week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5397401" y="3424238"/>
            <a:ext cx="3140839" cy="521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stable across the week; </a:t>
            </a: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highest count, </a:t>
            </a: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lowest — consistent demand with minor fluctuations.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57200" y="4657130"/>
            <a:ext cx="8229600" cy="9525"/>
          </a:xfrm>
          <a:prstGeom prst="rect">
            <a:avLst/>
          </a:prstGeom>
          <a:solidFill>
            <a:srgbClr val="1A233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57200" y="4752975"/>
            <a:ext cx="20463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METROMOVE TRANSIT SOLUTIONS</a:t>
            </a:r>
            <a:endParaRPr lang="en-US" sz="730" dirty="0"/>
          </a:p>
        </p:txBody>
      </p:sp>
      <p:sp>
        <p:nvSpPr>
          <p:cNvPr id="36" name="Text 30"/>
          <p:cNvSpPr/>
          <p:nvPr/>
        </p:nvSpPr>
        <p:spPr>
          <a:xfrm>
            <a:off x="7517606" y="4776788"/>
            <a:ext cx="57150" cy="57150"/>
          </a:xfrm>
          <a:prstGeom prst="ellipse">
            <a:avLst/>
          </a:prstGeom>
          <a:solidFill>
            <a:srgbClr val="2980B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7631906" y="4752975"/>
            <a:ext cx="116038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Exploratory Data Analysis</a:t>
            </a:r>
            <a:endParaRPr lang="en-US" sz="7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04BEE6-603C-3BEF-E468-FBABF66AE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4" y="85597"/>
            <a:ext cx="7210696" cy="497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1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9279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800" kern="0" spc="-30" dirty="0">
                <a:solidFill>
                  <a:srgbClr val="5A6A7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r>
              <a:rPr lang="en-US" sz="1800" kern="0" spc="-3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800" kern="0" spc="-30" dirty="0">
                <a:solidFill>
                  <a:srgbClr val="1A2332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Network Demand </a:t>
            </a:r>
            <a:r>
              <a:rPr lang="en-US" sz="1800" kern="0" spc="-30" dirty="0">
                <a:solidFill>
                  <a:srgbClr val="2980B9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&amp;</a:t>
            </a:r>
            <a:r>
              <a:rPr lang="en-US" sz="1800" kern="0" spc="-30" dirty="0">
                <a:solidFill>
                  <a:srgbClr val="1A2332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 Fare Structure </a:t>
            </a:r>
            <a:r>
              <a:rPr lang="en-US" sz="1800" kern="0" spc="-30" dirty="0">
                <a:solidFill>
                  <a:srgbClr val="5A6A7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0050" y="666750"/>
            <a:ext cx="514350" cy="21580"/>
          </a:xfrm>
          <a:prstGeom prst="roundRect">
            <a:avLst>
              <a:gd name="adj" fmla="val 64736"/>
            </a:avLst>
          </a:prstGeom>
          <a:solidFill>
            <a:srgbClr val="2980B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16930"/>
            <a:ext cx="3936355" cy="3702100"/>
          </a:xfrm>
          <a:prstGeom prst="roundRect">
            <a:avLst>
              <a:gd name="adj" fmla="val 3087"/>
            </a:avLst>
          </a:prstGeom>
          <a:solidFill>
            <a:srgbClr val="FFFFFF"/>
          </a:solidFill>
          <a:ln w="9525">
            <a:solidFill>
              <a:srgbClr val="2980B9">
                <a:alpha val="15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112707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191" y="1218242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255" y="1139130"/>
            <a:ext cx="198810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Station-to-Station Demand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996255" y="1325017"/>
            <a:ext cx="198810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route concentration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1285429" y="1642914"/>
            <a:ext cx="2788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620" dirty="0"/>
          </a:p>
        </p:txBody>
      </p:sp>
      <p:sp>
        <p:nvSpPr>
          <p:cNvPr id="10" name="Text 7"/>
          <p:cNvSpPr/>
          <p:nvPr/>
        </p:nvSpPr>
        <p:spPr>
          <a:xfrm>
            <a:off x="1908274" y="1642914"/>
            <a:ext cx="25473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2539901" y="1642914"/>
            <a:ext cx="21151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3169444" y="1642914"/>
            <a:ext cx="17304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3722340" y="1642914"/>
            <a:ext cx="30286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Point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610195" y="1945332"/>
            <a:ext cx="2788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1116955" y="1807666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560" dirty="0"/>
          </a:p>
        </p:txBody>
      </p:sp>
      <p:sp>
        <p:nvSpPr>
          <p:cNvPr id="16" name="Text 13"/>
          <p:cNvSpPr/>
          <p:nvPr/>
        </p:nvSpPr>
        <p:spPr>
          <a:xfrm>
            <a:off x="1728936" y="1807666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8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60" dirty="0"/>
          </a:p>
        </p:txBody>
      </p:sp>
      <p:sp>
        <p:nvSpPr>
          <p:cNvPr id="17" name="Text 14"/>
          <p:cNvSpPr/>
          <p:nvPr/>
        </p:nvSpPr>
        <p:spPr>
          <a:xfrm>
            <a:off x="2340918" y="1807666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4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2952899" y="1807666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5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60" dirty="0"/>
          </a:p>
        </p:txBody>
      </p:sp>
      <p:sp>
        <p:nvSpPr>
          <p:cNvPr id="19" name="Text 16"/>
          <p:cNvSpPr/>
          <p:nvPr/>
        </p:nvSpPr>
        <p:spPr>
          <a:xfrm>
            <a:off x="3564880" y="1807666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2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20" name="Text 17"/>
          <p:cNvSpPr/>
          <p:nvPr/>
        </p:nvSpPr>
        <p:spPr>
          <a:xfrm>
            <a:off x="610195" y="2327970"/>
            <a:ext cx="25473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endParaRPr lang="en-US" sz="620" dirty="0"/>
          </a:p>
        </p:txBody>
      </p:sp>
      <p:sp>
        <p:nvSpPr>
          <p:cNvPr id="21" name="Text 18"/>
          <p:cNvSpPr/>
          <p:nvPr/>
        </p:nvSpPr>
        <p:spPr>
          <a:xfrm>
            <a:off x="1116955" y="219030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8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60" dirty="0"/>
          </a:p>
        </p:txBody>
      </p:sp>
      <p:sp>
        <p:nvSpPr>
          <p:cNvPr id="22" name="Text 19"/>
          <p:cNvSpPr/>
          <p:nvPr/>
        </p:nvSpPr>
        <p:spPr>
          <a:xfrm>
            <a:off x="1728936" y="219030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560" dirty="0"/>
          </a:p>
        </p:txBody>
      </p:sp>
      <p:sp>
        <p:nvSpPr>
          <p:cNvPr id="23" name="Text 20"/>
          <p:cNvSpPr/>
          <p:nvPr/>
        </p:nvSpPr>
        <p:spPr>
          <a:xfrm>
            <a:off x="2340918" y="219030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3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24" name="Text 21"/>
          <p:cNvSpPr/>
          <p:nvPr/>
        </p:nvSpPr>
        <p:spPr>
          <a:xfrm>
            <a:off x="2952899" y="219030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3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60" dirty="0"/>
          </a:p>
        </p:txBody>
      </p:sp>
      <p:sp>
        <p:nvSpPr>
          <p:cNvPr id="25" name="Text 22"/>
          <p:cNvSpPr/>
          <p:nvPr/>
        </p:nvSpPr>
        <p:spPr>
          <a:xfrm>
            <a:off x="3564880" y="219030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26" name="Text 23"/>
          <p:cNvSpPr/>
          <p:nvPr/>
        </p:nvSpPr>
        <p:spPr>
          <a:xfrm>
            <a:off x="610195" y="2710607"/>
            <a:ext cx="21151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620" dirty="0"/>
          </a:p>
        </p:txBody>
      </p:sp>
      <p:sp>
        <p:nvSpPr>
          <p:cNvPr id="27" name="Text 24"/>
          <p:cNvSpPr/>
          <p:nvPr/>
        </p:nvSpPr>
        <p:spPr>
          <a:xfrm>
            <a:off x="1116955" y="2572941"/>
            <a:ext cx="590401" cy="397326"/>
          </a:xfrm>
          <a:prstGeom prst="roundRect">
            <a:avLst>
              <a:gd name="adj" fmla="val 5434"/>
            </a:avLst>
          </a:prstGeom>
          <a:solidFill>
            <a:srgbClr val="2980B9">
              <a:alpha val="4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60" dirty="0"/>
          </a:p>
        </p:txBody>
      </p:sp>
      <p:sp>
        <p:nvSpPr>
          <p:cNvPr id="28" name="Text 25"/>
          <p:cNvSpPr/>
          <p:nvPr/>
        </p:nvSpPr>
        <p:spPr>
          <a:xfrm>
            <a:off x="1728936" y="2572941"/>
            <a:ext cx="590401" cy="397326"/>
          </a:xfrm>
          <a:prstGeom prst="roundRect">
            <a:avLst>
              <a:gd name="adj" fmla="val 5434"/>
            </a:avLst>
          </a:prstGeom>
          <a:solidFill>
            <a:srgbClr val="2980B9">
              <a:alpha val="3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60" dirty="0"/>
          </a:p>
        </p:txBody>
      </p:sp>
      <p:sp>
        <p:nvSpPr>
          <p:cNvPr id="29" name="Text 26"/>
          <p:cNvSpPr/>
          <p:nvPr/>
        </p:nvSpPr>
        <p:spPr>
          <a:xfrm>
            <a:off x="2340918" y="2572941"/>
            <a:ext cx="590401" cy="397326"/>
          </a:xfrm>
          <a:prstGeom prst="roundRect">
            <a:avLst>
              <a:gd name="adj" fmla="val 5434"/>
            </a:avLst>
          </a:prstGeom>
          <a:solidFill>
            <a:srgbClr val="2980B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560" dirty="0"/>
          </a:p>
        </p:txBody>
      </p:sp>
      <p:sp>
        <p:nvSpPr>
          <p:cNvPr id="30" name="Text 27"/>
          <p:cNvSpPr/>
          <p:nvPr/>
        </p:nvSpPr>
        <p:spPr>
          <a:xfrm>
            <a:off x="2952899" y="2572941"/>
            <a:ext cx="590401" cy="397326"/>
          </a:xfrm>
          <a:prstGeom prst="roundRect">
            <a:avLst>
              <a:gd name="adj" fmla="val 5434"/>
            </a:avLst>
          </a:prstGeom>
          <a:solidFill>
            <a:srgbClr val="2980B9">
              <a:alpha val="2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31" name="Text 28"/>
          <p:cNvSpPr/>
          <p:nvPr/>
        </p:nvSpPr>
        <p:spPr>
          <a:xfrm>
            <a:off x="3564880" y="2572941"/>
            <a:ext cx="590401" cy="397326"/>
          </a:xfrm>
          <a:prstGeom prst="roundRect">
            <a:avLst>
              <a:gd name="adj" fmla="val 5434"/>
            </a:avLst>
          </a:prstGeom>
          <a:solidFill>
            <a:srgbClr val="2980B9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32" name="Text 29"/>
          <p:cNvSpPr/>
          <p:nvPr/>
        </p:nvSpPr>
        <p:spPr>
          <a:xfrm>
            <a:off x="610195" y="3093393"/>
            <a:ext cx="17304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620" dirty="0"/>
          </a:p>
        </p:txBody>
      </p:sp>
      <p:sp>
        <p:nvSpPr>
          <p:cNvPr id="33" name="Text 30"/>
          <p:cNvSpPr/>
          <p:nvPr/>
        </p:nvSpPr>
        <p:spPr>
          <a:xfrm>
            <a:off x="1116955" y="2955727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5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60" dirty="0"/>
          </a:p>
        </p:txBody>
      </p:sp>
      <p:sp>
        <p:nvSpPr>
          <p:cNvPr id="34" name="Text 31"/>
          <p:cNvSpPr/>
          <p:nvPr/>
        </p:nvSpPr>
        <p:spPr>
          <a:xfrm>
            <a:off x="1728936" y="2955727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3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60" dirty="0"/>
          </a:p>
        </p:txBody>
      </p:sp>
      <p:sp>
        <p:nvSpPr>
          <p:cNvPr id="35" name="Text 32"/>
          <p:cNvSpPr/>
          <p:nvPr/>
        </p:nvSpPr>
        <p:spPr>
          <a:xfrm>
            <a:off x="2340918" y="2955727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2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36" name="Text 33"/>
          <p:cNvSpPr/>
          <p:nvPr/>
        </p:nvSpPr>
        <p:spPr>
          <a:xfrm>
            <a:off x="2952899" y="2955727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560" dirty="0"/>
          </a:p>
        </p:txBody>
      </p:sp>
      <p:sp>
        <p:nvSpPr>
          <p:cNvPr id="37" name="Text 34"/>
          <p:cNvSpPr/>
          <p:nvPr/>
        </p:nvSpPr>
        <p:spPr>
          <a:xfrm>
            <a:off x="3564880" y="2955727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38" name="Text 35"/>
          <p:cNvSpPr/>
          <p:nvPr/>
        </p:nvSpPr>
        <p:spPr>
          <a:xfrm>
            <a:off x="610195" y="3476030"/>
            <a:ext cx="30286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Point</a:t>
            </a:r>
            <a:endParaRPr lang="en-US" sz="620" dirty="0"/>
          </a:p>
        </p:txBody>
      </p:sp>
      <p:sp>
        <p:nvSpPr>
          <p:cNvPr id="39" name="Text 36"/>
          <p:cNvSpPr/>
          <p:nvPr/>
        </p:nvSpPr>
        <p:spPr>
          <a:xfrm>
            <a:off x="1116955" y="333836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2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40" name="Text 37"/>
          <p:cNvSpPr/>
          <p:nvPr/>
        </p:nvSpPr>
        <p:spPr>
          <a:xfrm>
            <a:off x="1728936" y="333836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2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41" name="Text 38"/>
          <p:cNvSpPr/>
          <p:nvPr/>
        </p:nvSpPr>
        <p:spPr>
          <a:xfrm>
            <a:off x="2340918" y="333836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42" name="Text 39"/>
          <p:cNvSpPr/>
          <p:nvPr/>
        </p:nvSpPr>
        <p:spPr>
          <a:xfrm>
            <a:off x="2952899" y="333836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560" dirty="0"/>
          </a:p>
        </p:txBody>
      </p:sp>
      <p:sp>
        <p:nvSpPr>
          <p:cNvPr id="43" name="Text 40"/>
          <p:cNvSpPr/>
          <p:nvPr/>
        </p:nvSpPr>
        <p:spPr>
          <a:xfrm>
            <a:off x="3564880" y="3338364"/>
            <a:ext cx="590401" cy="397163"/>
          </a:xfrm>
          <a:prstGeom prst="roundRect">
            <a:avLst>
              <a:gd name="adj" fmla="val 5436"/>
            </a:avLst>
          </a:prstGeom>
          <a:solidFill>
            <a:srgbClr val="2980B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560" dirty="0"/>
          </a:p>
        </p:txBody>
      </p:sp>
      <p:sp>
        <p:nvSpPr>
          <p:cNvPr id="44" name="Text 41"/>
          <p:cNvSpPr/>
          <p:nvPr/>
        </p:nvSpPr>
        <p:spPr>
          <a:xfrm>
            <a:off x="581025" y="3785890"/>
            <a:ext cx="15863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20" dirty="0"/>
          </a:p>
        </p:txBody>
      </p:sp>
      <p:sp>
        <p:nvSpPr>
          <p:cNvPr id="45" name="Text 42"/>
          <p:cNvSpPr/>
          <p:nvPr/>
        </p:nvSpPr>
        <p:spPr>
          <a:xfrm>
            <a:off x="782389" y="3800177"/>
            <a:ext cx="3154263" cy="57150"/>
          </a:xfrm>
          <a:prstGeom prst="roundRect">
            <a:avLst>
              <a:gd name="adj" fmla="val 51111"/>
            </a:avLst>
          </a:prstGeom>
          <a:gradFill rotWithShape="1">
            <a:gsLst>
              <a:gs pos="0">
                <a:srgbClr val="2980B9">
                  <a:alpha val="15000"/>
                </a:srgbClr>
              </a:gs>
              <a:gs pos="100000">
                <a:srgbClr val="2980B9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3993803" y="3785890"/>
            <a:ext cx="17779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20" dirty="0"/>
          </a:p>
        </p:txBody>
      </p:sp>
      <p:sp>
        <p:nvSpPr>
          <p:cNvPr id="47" name="Text 44"/>
          <p:cNvSpPr/>
          <p:nvPr/>
        </p:nvSpPr>
        <p:spPr>
          <a:xfrm>
            <a:off x="581025" y="3985915"/>
            <a:ext cx="3645893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busiest routes concentrate around </a:t>
            </a:r>
            <a:r>
              <a:rPr lang="en-US" sz="79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r>
              <a:rPr lang="en-US" sz="79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79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r>
              <a:rPr lang="en-US" sz="79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dominant network nodes, with the Central ↔ Airport corridor showing the highest passenger demand.</a:t>
            </a:r>
            <a:endParaRPr lang="en-US" sz="790" dirty="0"/>
          </a:p>
        </p:txBody>
      </p:sp>
      <p:sp>
        <p:nvSpPr>
          <p:cNvPr id="48" name="Text 45"/>
          <p:cNvSpPr/>
          <p:nvPr/>
        </p:nvSpPr>
        <p:spPr>
          <a:xfrm>
            <a:off x="4565005" y="916930"/>
            <a:ext cx="13841" cy="3702100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980B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807446" y="916930"/>
            <a:ext cx="3936504" cy="3702100"/>
          </a:xfrm>
          <a:prstGeom prst="roundRect">
            <a:avLst>
              <a:gd name="adj" fmla="val 3087"/>
            </a:avLst>
          </a:prstGeom>
          <a:solidFill>
            <a:srgbClr val="FFFFFF"/>
          </a:solidFill>
          <a:ln w="9525">
            <a:solidFill>
              <a:srgbClr val="2980B9">
                <a:alpha val="15000"/>
              </a:srgbClr>
            </a:solidFill>
          </a:ln>
          <a:effectLst>
            <a:outerShdw blurRad="8636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988421" y="112707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2980B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9587" y="1218242"/>
            <a:ext cx="132588" cy="13258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5403652" y="1139130"/>
            <a:ext cx="1393344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Fixed Fare System</a:t>
            </a:r>
            <a:endParaRPr lang="en-US" sz="1130" dirty="0"/>
          </a:p>
        </p:txBody>
      </p:sp>
      <p:sp>
        <p:nvSpPr>
          <p:cNvPr id="53" name="Text 49"/>
          <p:cNvSpPr/>
          <p:nvPr/>
        </p:nvSpPr>
        <p:spPr>
          <a:xfrm>
            <a:off x="5403652" y="1325017"/>
            <a:ext cx="139334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Flat-rate pricing confirmed</a:t>
            </a:r>
            <a:endParaRPr lang="en-US" sz="730" dirty="0"/>
          </a:p>
        </p:txBody>
      </p:sp>
      <p:sp>
        <p:nvSpPr>
          <p:cNvPr id="54" name="Text 50"/>
          <p:cNvSpPr/>
          <p:nvPr/>
        </p:nvSpPr>
        <p:spPr>
          <a:xfrm>
            <a:off x="4988421" y="1613446"/>
            <a:ext cx="3574554" cy="700980"/>
          </a:xfrm>
          <a:prstGeom prst="roundRect">
            <a:avLst>
              <a:gd name="adj" fmla="val 10146"/>
            </a:avLst>
          </a:prstGeom>
          <a:solidFill>
            <a:srgbClr val="2980B9">
              <a:alpha val="3000"/>
            </a:srgbClr>
          </a:solidFill>
          <a:ln w="9525">
            <a:solidFill>
              <a:srgbClr val="2980B9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112246" y="1723281"/>
            <a:ext cx="228600" cy="228600"/>
          </a:xfrm>
          <a:prstGeom prst="ellipse">
            <a:avLst/>
          </a:prstGeom>
          <a:solidFill>
            <a:srgbClr val="2980B9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0252" y="1771287"/>
            <a:ext cx="132588" cy="132588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5411837" y="1780431"/>
            <a:ext cx="105937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vs. Trip Duration</a:t>
            </a:r>
            <a:endParaRPr lang="en-US" sz="790" dirty="0"/>
          </a:p>
        </p:txBody>
      </p:sp>
      <p:sp>
        <p:nvSpPr>
          <p:cNvPr id="58" name="Text 53"/>
          <p:cNvSpPr/>
          <p:nvPr/>
        </p:nvSpPr>
        <p:spPr>
          <a:xfrm>
            <a:off x="8120658" y="1785193"/>
            <a:ext cx="35034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0.00</a:t>
            </a:r>
            <a:endParaRPr lang="en-US" sz="730" dirty="0"/>
          </a:p>
        </p:txBody>
      </p:sp>
      <p:sp>
        <p:nvSpPr>
          <p:cNvPr id="59" name="Text 54"/>
          <p:cNvSpPr/>
          <p:nvPr/>
        </p:nvSpPr>
        <p:spPr>
          <a:xfrm>
            <a:off x="5112246" y="2009031"/>
            <a:ext cx="3326904" cy="43160"/>
          </a:xfrm>
          <a:prstGeom prst="roundRect">
            <a:avLst>
              <a:gd name="adj" fmla="val 50023"/>
            </a:avLst>
          </a:prstGeom>
          <a:solidFill>
            <a:srgbClr val="1A2332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5"/>
          <p:cNvSpPr/>
          <p:nvPr/>
        </p:nvSpPr>
        <p:spPr>
          <a:xfrm>
            <a:off x="5112246" y="2009031"/>
            <a:ext cx="166241" cy="43160"/>
          </a:xfrm>
          <a:prstGeom prst="roundRect">
            <a:avLst>
              <a:gd name="adj" fmla="val 50023"/>
            </a:avLst>
          </a:prstGeom>
          <a:solidFill>
            <a:srgbClr val="2980B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5112246" y="2109341"/>
            <a:ext cx="365959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 — fare stays constant regardless of trip length</a:t>
            </a:r>
            <a:endParaRPr lang="en-US" sz="680" dirty="0"/>
          </a:p>
        </p:txBody>
      </p:sp>
      <p:sp>
        <p:nvSpPr>
          <p:cNvPr id="62" name="Text 57"/>
          <p:cNvSpPr/>
          <p:nvPr/>
        </p:nvSpPr>
        <p:spPr>
          <a:xfrm>
            <a:off x="4988421" y="2442567"/>
            <a:ext cx="3574554" cy="700980"/>
          </a:xfrm>
          <a:prstGeom prst="roundRect">
            <a:avLst>
              <a:gd name="adj" fmla="val 10146"/>
            </a:avLst>
          </a:prstGeom>
          <a:solidFill>
            <a:srgbClr val="2980B9">
              <a:alpha val="3000"/>
            </a:srgbClr>
          </a:solidFill>
          <a:ln w="9525">
            <a:solidFill>
              <a:srgbClr val="2980B9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5112246" y="2552402"/>
            <a:ext cx="228600" cy="228600"/>
          </a:xfrm>
          <a:prstGeom prst="ellipse">
            <a:avLst/>
          </a:prstGeom>
          <a:solidFill>
            <a:srgbClr val="2980B9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0252" y="2600408"/>
            <a:ext cx="132588" cy="132588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5411837" y="2609552"/>
            <a:ext cx="12311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vs. Passenger Load</a:t>
            </a:r>
            <a:endParaRPr lang="en-US" sz="790" dirty="0"/>
          </a:p>
        </p:txBody>
      </p:sp>
      <p:sp>
        <p:nvSpPr>
          <p:cNvPr id="66" name="Text 60"/>
          <p:cNvSpPr/>
          <p:nvPr/>
        </p:nvSpPr>
        <p:spPr>
          <a:xfrm>
            <a:off x="8120658" y="2614315"/>
            <a:ext cx="35034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0.00</a:t>
            </a:r>
            <a:endParaRPr lang="en-US" sz="730" dirty="0"/>
          </a:p>
        </p:txBody>
      </p:sp>
      <p:sp>
        <p:nvSpPr>
          <p:cNvPr id="67" name="Text 61"/>
          <p:cNvSpPr/>
          <p:nvPr/>
        </p:nvSpPr>
        <p:spPr>
          <a:xfrm>
            <a:off x="5112246" y="2838152"/>
            <a:ext cx="3326904" cy="43160"/>
          </a:xfrm>
          <a:prstGeom prst="roundRect">
            <a:avLst>
              <a:gd name="adj" fmla="val 50023"/>
            </a:avLst>
          </a:prstGeom>
          <a:solidFill>
            <a:srgbClr val="1A2332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5112246" y="2838152"/>
            <a:ext cx="133052" cy="43160"/>
          </a:xfrm>
          <a:prstGeom prst="roundRect">
            <a:avLst>
              <a:gd name="adj" fmla="val 50023"/>
            </a:avLst>
          </a:prstGeom>
          <a:solidFill>
            <a:srgbClr val="2980B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3"/>
          <p:cNvSpPr/>
          <p:nvPr/>
        </p:nvSpPr>
        <p:spPr>
          <a:xfrm>
            <a:off x="5112246" y="2938463"/>
            <a:ext cx="365959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 — fare is unaffected by number of passengers</a:t>
            </a:r>
            <a:endParaRPr lang="en-US" sz="680" dirty="0"/>
          </a:p>
        </p:txBody>
      </p:sp>
      <p:sp>
        <p:nvSpPr>
          <p:cNvPr id="70" name="Text 64"/>
          <p:cNvSpPr/>
          <p:nvPr/>
        </p:nvSpPr>
        <p:spPr>
          <a:xfrm>
            <a:off x="4988421" y="3271689"/>
            <a:ext cx="3574554" cy="700980"/>
          </a:xfrm>
          <a:prstGeom prst="roundRect">
            <a:avLst>
              <a:gd name="adj" fmla="val 10146"/>
            </a:avLst>
          </a:prstGeom>
          <a:solidFill>
            <a:srgbClr val="2980B9">
              <a:alpha val="3000"/>
            </a:srgbClr>
          </a:solidFill>
          <a:ln w="9525">
            <a:solidFill>
              <a:srgbClr val="2980B9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5"/>
          <p:cNvSpPr/>
          <p:nvPr/>
        </p:nvSpPr>
        <p:spPr>
          <a:xfrm>
            <a:off x="5112246" y="3381524"/>
            <a:ext cx="228600" cy="228600"/>
          </a:xfrm>
          <a:prstGeom prst="ellipse">
            <a:avLst/>
          </a:prstGeom>
          <a:solidFill>
            <a:srgbClr val="2980B9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60252" y="3429530"/>
            <a:ext cx="132588" cy="132588"/>
          </a:xfrm>
          <a:prstGeom prst="rect">
            <a:avLst/>
          </a:prstGeom>
        </p:spPr>
      </p:pic>
      <p:sp>
        <p:nvSpPr>
          <p:cNvPr id="73" name="Text 66"/>
          <p:cNvSpPr/>
          <p:nvPr/>
        </p:nvSpPr>
        <p:spPr>
          <a:xfrm>
            <a:off x="5411837" y="3438674"/>
            <a:ext cx="120016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vs. Transport Mode</a:t>
            </a:r>
            <a:endParaRPr lang="en-US" sz="790" dirty="0"/>
          </a:p>
        </p:txBody>
      </p:sp>
      <p:sp>
        <p:nvSpPr>
          <p:cNvPr id="74" name="Text 67"/>
          <p:cNvSpPr/>
          <p:nvPr/>
        </p:nvSpPr>
        <p:spPr>
          <a:xfrm>
            <a:off x="8120658" y="3443436"/>
            <a:ext cx="35034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0.00</a:t>
            </a:r>
            <a:endParaRPr lang="en-US" sz="730" dirty="0"/>
          </a:p>
        </p:txBody>
      </p:sp>
      <p:sp>
        <p:nvSpPr>
          <p:cNvPr id="75" name="Text 68"/>
          <p:cNvSpPr/>
          <p:nvPr/>
        </p:nvSpPr>
        <p:spPr>
          <a:xfrm>
            <a:off x="5112246" y="3667274"/>
            <a:ext cx="3326904" cy="43160"/>
          </a:xfrm>
          <a:prstGeom prst="roundRect">
            <a:avLst>
              <a:gd name="adj" fmla="val 50023"/>
            </a:avLst>
          </a:prstGeom>
          <a:solidFill>
            <a:srgbClr val="1A2332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9"/>
          <p:cNvSpPr/>
          <p:nvPr/>
        </p:nvSpPr>
        <p:spPr>
          <a:xfrm>
            <a:off x="5112246" y="3667274"/>
            <a:ext cx="99715" cy="43160"/>
          </a:xfrm>
          <a:prstGeom prst="roundRect">
            <a:avLst>
              <a:gd name="adj" fmla="val 50023"/>
            </a:avLst>
          </a:prstGeom>
          <a:solidFill>
            <a:srgbClr val="2980B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0"/>
          <p:cNvSpPr/>
          <p:nvPr/>
        </p:nvSpPr>
        <p:spPr>
          <a:xfrm>
            <a:off x="5112246" y="3767584"/>
            <a:ext cx="365959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fares across Bus, Ferry, Train, and Tram</a:t>
            </a:r>
            <a:endParaRPr lang="en-US" sz="680" dirty="0"/>
          </a:p>
        </p:txBody>
      </p:sp>
      <p:sp>
        <p:nvSpPr>
          <p:cNvPr id="78" name="Text 71"/>
          <p:cNvSpPr/>
          <p:nvPr/>
        </p:nvSpPr>
        <p:spPr>
          <a:xfrm>
            <a:off x="4988421" y="4100810"/>
            <a:ext cx="3574554" cy="520601"/>
          </a:xfrm>
          <a:prstGeom prst="roundRect">
            <a:avLst>
              <a:gd name="adj" fmla="val 16589"/>
            </a:avLst>
          </a:prstGeom>
          <a:solidFill>
            <a:srgbClr val="2980B9">
              <a:alpha val="5000"/>
            </a:srgbClr>
          </a:solidFill>
          <a:ln w="9525">
            <a:solidFill>
              <a:srgbClr val="2980B9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9530" y="4271279"/>
            <a:ext cx="132588" cy="179515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5291882" y="4210645"/>
            <a:ext cx="3196096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</a:t>
            </a:r>
            <a:r>
              <a:rPr lang="en-US" sz="79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Flat-rate pricing model — fares are independent of duration, occupancy, and mode.</a:t>
            </a:r>
            <a:endParaRPr lang="en-US" sz="790" dirty="0"/>
          </a:p>
        </p:txBody>
      </p:sp>
      <p:sp>
        <p:nvSpPr>
          <p:cNvPr id="81" name="Text 73"/>
          <p:cNvSpPr/>
          <p:nvPr/>
        </p:nvSpPr>
        <p:spPr>
          <a:xfrm>
            <a:off x="400050" y="4762500"/>
            <a:ext cx="185026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METROMOVE TRANSIT SOLUTIONS</a:t>
            </a:r>
            <a:endParaRPr lang="en-US" sz="680" dirty="0"/>
          </a:p>
        </p:txBody>
      </p:sp>
      <p:sp>
        <p:nvSpPr>
          <p:cNvPr id="82" name="Text 74"/>
          <p:cNvSpPr/>
          <p:nvPr/>
        </p:nvSpPr>
        <p:spPr>
          <a:xfrm>
            <a:off x="7675662" y="4788545"/>
            <a:ext cx="43160" cy="43160"/>
          </a:xfrm>
          <a:prstGeom prst="ellipse">
            <a:avLst/>
          </a:prstGeom>
          <a:solidFill>
            <a:srgbClr val="2980B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5"/>
          <p:cNvSpPr/>
          <p:nvPr/>
        </p:nvSpPr>
        <p:spPr>
          <a:xfrm>
            <a:off x="7761982" y="4762500"/>
            <a:ext cx="108016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680" dirty="0"/>
          </a:p>
        </p:txBody>
      </p:sp>
      <p:sp>
        <p:nvSpPr>
          <p:cNvPr id="84" name="Text 76"/>
          <p:cNvSpPr/>
          <p:nvPr/>
        </p:nvSpPr>
        <p:spPr>
          <a:xfrm>
            <a:off x="409575" y="926455"/>
            <a:ext cx="3917309" cy="21580"/>
          </a:xfrm>
          <a:custGeom>
            <a:avLst/>
            <a:gdLst/>
            <a:ahLst/>
            <a:cxnLst/>
            <a:rect l="l" t="t" r="r" b="b"/>
            <a:pathLst>
              <a:path w="3917309" h="21580">
                <a:moveTo>
                  <a:pt x="114300" y="0"/>
                </a:moveTo>
                <a:lnTo>
                  <a:pt x="3803009" y="0"/>
                </a:lnTo>
                <a:lnTo>
                  <a:pt x="3827694" y="2698"/>
                </a:lnTo>
                <a:lnTo>
                  <a:pt x="3837710" y="5395"/>
                </a:lnTo>
                <a:lnTo>
                  <a:pt x="3845252" y="8093"/>
                </a:lnTo>
                <a:lnTo>
                  <a:pt x="3851487" y="10790"/>
                </a:lnTo>
                <a:lnTo>
                  <a:pt x="3856873" y="13488"/>
                </a:lnTo>
                <a:lnTo>
                  <a:pt x="3861643" y="16185"/>
                </a:lnTo>
                <a:lnTo>
                  <a:pt x="3865937" y="18883"/>
                </a:lnTo>
                <a:lnTo>
                  <a:pt x="3869848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7"/>
          <p:cNvSpPr/>
          <p:nvPr/>
        </p:nvSpPr>
        <p:spPr>
          <a:xfrm>
            <a:off x="4816971" y="926455"/>
            <a:ext cx="3917452" cy="21580"/>
          </a:xfrm>
          <a:custGeom>
            <a:avLst/>
            <a:gdLst/>
            <a:ahLst/>
            <a:cxnLst/>
            <a:rect l="l" t="t" r="r" b="b"/>
            <a:pathLst>
              <a:path w="3917452" h="21580">
                <a:moveTo>
                  <a:pt x="114300" y="0"/>
                </a:moveTo>
                <a:lnTo>
                  <a:pt x="3803152" y="0"/>
                </a:lnTo>
                <a:lnTo>
                  <a:pt x="3827837" y="2698"/>
                </a:lnTo>
                <a:lnTo>
                  <a:pt x="3837853" y="5395"/>
                </a:lnTo>
                <a:lnTo>
                  <a:pt x="3845394" y="8093"/>
                </a:lnTo>
                <a:lnTo>
                  <a:pt x="3851630" y="10790"/>
                </a:lnTo>
                <a:lnTo>
                  <a:pt x="3857016" y="13488"/>
                </a:lnTo>
                <a:lnTo>
                  <a:pt x="3861785" y="16185"/>
                </a:lnTo>
                <a:lnTo>
                  <a:pt x="3866080" y="18883"/>
                </a:lnTo>
                <a:lnTo>
                  <a:pt x="3869991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2980B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0C1BE4-422C-5DDA-2CE8-9BE7406F7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21" y="1301684"/>
            <a:ext cx="4045158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15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0"/>
            <a:ext cx="5429250" cy="50723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0720"/>
            <a:ext cx="4857750" cy="41427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66725" y="1420416"/>
            <a:ext cx="29170" cy="540990"/>
          </a:xfrm>
          <a:custGeom>
            <a:avLst/>
            <a:gdLst/>
            <a:ahLst/>
            <a:cxnLst/>
            <a:rect l="l" t="t" r="r" b="b"/>
            <a:pathLst>
              <a:path w="29170" h="540990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519340"/>
                </a:lnTo>
                <a:lnTo>
                  <a:pt x="25524" y="515925"/>
                </a:lnTo>
                <a:lnTo>
                  <a:pt x="21878" y="512077"/>
                </a:lnTo>
                <a:lnTo>
                  <a:pt x="18231" y="507702"/>
                </a:lnTo>
                <a:lnTo>
                  <a:pt x="14585" y="502656"/>
                </a:lnTo>
                <a:lnTo>
                  <a:pt x="10939" y="496698"/>
                </a:lnTo>
                <a:lnTo>
                  <a:pt x="7293" y="489364"/>
                </a:lnTo>
                <a:lnTo>
                  <a:pt x="3646" y="479460"/>
                </a:lnTo>
                <a:lnTo>
                  <a:pt x="0" y="454630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6725" y="2066776"/>
            <a:ext cx="29170" cy="540990"/>
          </a:xfrm>
          <a:custGeom>
            <a:avLst/>
            <a:gdLst/>
            <a:ahLst/>
            <a:cxnLst/>
            <a:rect l="l" t="t" r="r" b="b"/>
            <a:pathLst>
              <a:path w="29170" h="540990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519340"/>
                </a:lnTo>
                <a:lnTo>
                  <a:pt x="25524" y="515925"/>
                </a:lnTo>
                <a:lnTo>
                  <a:pt x="21878" y="512077"/>
                </a:lnTo>
                <a:lnTo>
                  <a:pt x="18231" y="507702"/>
                </a:lnTo>
                <a:lnTo>
                  <a:pt x="14585" y="502656"/>
                </a:lnTo>
                <a:lnTo>
                  <a:pt x="10939" y="496698"/>
                </a:lnTo>
                <a:lnTo>
                  <a:pt x="7293" y="489364"/>
                </a:lnTo>
                <a:lnTo>
                  <a:pt x="3646" y="479460"/>
                </a:lnTo>
                <a:lnTo>
                  <a:pt x="0" y="454630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66725" y="2713137"/>
            <a:ext cx="29170" cy="540990"/>
          </a:xfrm>
          <a:custGeom>
            <a:avLst/>
            <a:gdLst/>
            <a:ahLst/>
            <a:cxnLst/>
            <a:rect l="l" t="t" r="r" b="b"/>
            <a:pathLst>
              <a:path w="29170" h="540990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519340"/>
                </a:lnTo>
                <a:lnTo>
                  <a:pt x="25524" y="515925"/>
                </a:lnTo>
                <a:lnTo>
                  <a:pt x="21878" y="512077"/>
                </a:lnTo>
                <a:lnTo>
                  <a:pt x="18231" y="507702"/>
                </a:lnTo>
                <a:lnTo>
                  <a:pt x="14585" y="502656"/>
                </a:lnTo>
                <a:lnTo>
                  <a:pt x="10939" y="496698"/>
                </a:lnTo>
                <a:lnTo>
                  <a:pt x="7293" y="489364"/>
                </a:lnTo>
                <a:lnTo>
                  <a:pt x="3646" y="479460"/>
                </a:lnTo>
                <a:lnTo>
                  <a:pt x="0" y="454630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66725" y="3359497"/>
            <a:ext cx="29170" cy="540990"/>
          </a:xfrm>
          <a:custGeom>
            <a:avLst/>
            <a:gdLst/>
            <a:ahLst/>
            <a:cxnLst/>
            <a:rect l="l" t="t" r="r" b="b"/>
            <a:pathLst>
              <a:path w="29170" h="540990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519340"/>
                </a:lnTo>
                <a:lnTo>
                  <a:pt x="25524" y="515925"/>
                </a:lnTo>
                <a:lnTo>
                  <a:pt x="21878" y="512077"/>
                </a:lnTo>
                <a:lnTo>
                  <a:pt x="18231" y="507702"/>
                </a:lnTo>
                <a:lnTo>
                  <a:pt x="14585" y="502656"/>
                </a:lnTo>
                <a:lnTo>
                  <a:pt x="10939" y="496698"/>
                </a:lnTo>
                <a:lnTo>
                  <a:pt x="7293" y="489364"/>
                </a:lnTo>
                <a:lnTo>
                  <a:pt x="3646" y="479460"/>
                </a:lnTo>
                <a:lnTo>
                  <a:pt x="0" y="454630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66725" y="4005858"/>
            <a:ext cx="29170" cy="540990"/>
          </a:xfrm>
          <a:custGeom>
            <a:avLst/>
            <a:gdLst/>
            <a:ahLst/>
            <a:cxnLst/>
            <a:rect l="l" t="t" r="r" b="b"/>
            <a:pathLst>
              <a:path w="29170" h="540990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519340"/>
                </a:lnTo>
                <a:lnTo>
                  <a:pt x="25524" y="515925"/>
                </a:lnTo>
                <a:lnTo>
                  <a:pt x="21878" y="512077"/>
                </a:lnTo>
                <a:lnTo>
                  <a:pt x="18231" y="507702"/>
                </a:lnTo>
                <a:lnTo>
                  <a:pt x="14585" y="502656"/>
                </a:lnTo>
                <a:lnTo>
                  <a:pt x="10939" y="496698"/>
                </a:lnTo>
                <a:lnTo>
                  <a:pt x="7293" y="489364"/>
                </a:lnTo>
                <a:lnTo>
                  <a:pt x="3646" y="479460"/>
                </a:lnTo>
                <a:lnTo>
                  <a:pt x="0" y="454630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7200" y="407491"/>
            <a:ext cx="905256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"/>
              </a:lnSpc>
              <a:spcBef>
                <a:spcPts val="730"/>
              </a:spcBef>
              <a:spcAft>
                <a:spcPts val="730"/>
              </a:spcAft>
              <a:buNone/>
            </a:pPr>
            <a:r>
              <a:rPr lang="en-US" sz="730" b="1" kern="0" spc="17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SUMMARY</a:t>
            </a:r>
            <a:endParaRPr lang="en-US" sz="730" dirty="0"/>
          </a:p>
        </p:txBody>
      </p:sp>
      <p:sp>
        <p:nvSpPr>
          <p:cNvPr id="12" name="Text 8"/>
          <p:cNvSpPr/>
          <p:nvPr/>
        </p:nvSpPr>
        <p:spPr>
          <a:xfrm>
            <a:off x="457200" y="694283"/>
            <a:ext cx="8805672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Bef>
                <a:spcPts val="1434"/>
              </a:spcBef>
              <a:spcAft>
                <a:spcPts val="1434"/>
              </a:spcAft>
              <a:buNone/>
            </a:pPr>
            <a:r>
              <a:rPr lang="en-US" sz="2140" dirty="0">
                <a:solidFill>
                  <a:srgbClr val="1A2332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EDA Summary: </a:t>
            </a:r>
            <a:r>
              <a:rPr lang="en-US" sz="2140" b="1" dirty="0">
                <a:solidFill>
                  <a:srgbClr val="2980B9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The Big Picture</a:t>
            </a:r>
            <a:endParaRPr lang="en-US" sz="2140" dirty="0">
              <a:latin typeface="Britannic Bold" panose="020B0903060703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" y="1188690"/>
            <a:ext cx="571500" cy="21580"/>
          </a:xfrm>
          <a:prstGeom prst="roundRect">
            <a:avLst>
              <a:gd name="adj" fmla="val 64736"/>
            </a:avLst>
          </a:prstGeom>
          <a:solidFill>
            <a:srgbClr val="2980B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200" y="1410891"/>
            <a:ext cx="8229600" cy="560040"/>
          </a:xfrm>
          <a:prstGeom prst="roundRect">
            <a:avLst>
              <a:gd name="adj" fmla="val 15420"/>
            </a:avLst>
          </a:prstGeom>
          <a:gradFill rotWithShape="1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75000"/>
                </a:srgbClr>
              </a:gs>
            </a:gsLst>
            <a:lin ang="2700000" scaled="1"/>
          </a:gradFill>
          <a:ln w="9525">
            <a:solidFill>
              <a:srgbClr val="2980B9">
                <a:alpha val="18000"/>
              </a:srgbClr>
            </a:solidFill>
          </a:ln>
          <a:effectLst>
            <a:outerShdw blurRad="29210" dist="762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38175" y="1542306"/>
            <a:ext cx="304800" cy="304800"/>
          </a:xfrm>
          <a:prstGeom prst="roundRect">
            <a:avLst>
              <a:gd name="adj" fmla="val 23333"/>
            </a:avLst>
          </a:prstGeom>
          <a:solidFill>
            <a:srgbClr val="2980B9">
              <a:alpha val="10000"/>
            </a:srgbClr>
          </a:solidFill>
          <a:ln w="9525">
            <a:solidFill>
              <a:srgbClr val="2980B9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207" y="1628337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86445" y="1534716"/>
            <a:ext cx="7698507" cy="196602"/>
          </a:xfrm>
          <a:prstGeom prst="rect">
            <a:avLst/>
          </a:prstGeom>
          <a:noFill/>
          <a:ln/>
        </p:spPr>
        <p:txBody>
          <a:bodyPr wrap="none" lIns="0" tIns="1397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dominates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primary transport mode, with </a:t>
            </a: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main departure hub and </a:t>
            </a: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top arrival destination.</a:t>
            </a:r>
            <a:endParaRPr lang="en-US" sz="960" dirty="0"/>
          </a:p>
        </p:txBody>
      </p:sp>
      <p:sp>
        <p:nvSpPr>
          <p:cNvPr id="18" name="Text 13"/>
          <p:cNvSpPr/>
          <p:nvPr/>
        </p:nvSpPr>
        <p:spPr>
          <a:xfrm>
            <a:off x="457200" y="2057251"/>
            <a:ext cx="8229600" cy="560040"/>
          </a:xfrm>
          <a:prstGeom prst="roundRect">
            <a:avLst>
              <a:gd name="adj" fmla="val 15420"/>
            </a:avLst>
          </a:prstGeom>
          <a:gradFill rotWithShape="1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75000"/>
                </a:srgbClr>
              </a:gs>
            </a:gsLst>
            <a:lin ang="2700000" scaled="1"/>
          </a:gradFill>
          <a:ln w="9525">
            <a:solidFill>
              <a:srgbClr val="2980B9">
                <a:alpha val="18000"/>
              </a:srgbClr>
            </a:solidFill>
          </a:ln>
          <a:effectLst>
            <a:outerShdw blurRad="29210" dist="762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38175" y="2188666"/>
            <a:ext cx="304800" cy="304800"/>
          </a:xfrm>
          <a:prstGeom prst="roundRect">
            <a:avLst>
              <a:gd name="adj" fmla="val 23333"/>
            </a:avLst>
          </a:prstGeom>
          <a:solidFill>
            <a:srgbClr val="2980B9">
              <a:alpha val="10000"/>
            </a:srgbClr>
          </a:solidFill>
          <a:ln w="9525">
            <a:solidFill>
              <a:srgbClr val="2980B9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207" y="2274698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86445" y="2181076"/>
            <a:ext cx="7958807" cy="196602"/>
          </a:xfrm>
          <a:prstGeom prst="rect">
            <a:avLst/>
          </a:prstGeom>
          <a:noFill/>
          <a:ln/>
        </p:spPr>
        <p:txBody>
          <a:bodyPr wrap="none" lIns="0" tIns="1397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Fares, trip durations, and weekly demand are </a:t>
            </a: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uniform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transport modes and days — a </a:t>
            </a: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balanced, predictable network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60" dirty="0"/>
          </a:p>
        </p:txBody>
      </p:sp>
      <p:sp>
        <p:nvSpPr>
          <p:cNvPr id="22" name="Text 16"/>
          <p:cNvSpPr/>
          <p:nvPr/>
        </p:nvSpPr>
        <p:spPr>
          <a:xfrm>
            <a:off x="457200" y="2703612"/>
            <a:ext cx="8229600" cy="560040"/>
          </a:xfrm>
          <a:prstGeom prst="roundRect">
            <a:avLst>
              <a:gd name="adj" fmla="val 15420"/>
            </a:avLst>
          </a:prstGeom>
          <a:gradFill rotWithShape="1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75000"/>
                </a:srgbClr>
              </a:gs>
            </a:gsLst>
            <a:lin ang="2700000" scaled="1"/>
          </a:gradFill>
          <a:ln w="9525">
            <a:solidFill>
              <a:srgbClr val="2980B9">
                <a:alpha val="18000"/>
              </a:srgbClr>
            </a:solidFill>
          </a:ln>
          <a:effectLst>
            <a:outerShdw blurRad="29210" dist="762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38175" y="2835027"/>
            <a:ext cx="304800" cy="304800"/>
          </a:xfrm>
          <a:prstGeom prst="roundRect">
            <a:avLst>
              <a:gd name="adj" fmla="val 23333"/>
            </a:avLst>
          </a:prstGeom>
          <a:solidFill>
            <a:srgbClr val="2980B9">
              <a:alpha val="10000"/>
            </a:srgbClr>
          </a:solidFill>
          <a:ln w="9525">
            <a:solidFill>
              <a:srgbClr val="2980B9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207" y="2921059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86445" y="2827437"/>
            <a:ext cx="4971246" cy="196602"/>
          </a:xfrm>
          <a:prstGeom prst="rect">
            <a:avLst/>
          </a:prstGeom>
          <a:noFill/>
          <a:ln/>
        </p:spPr>
        <p:txBody>
          <a:bodyPr wrap="none" lIns="0" tIns="1397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fare system is </a:t>
            </a: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flat-rate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no dependency on trip duration or passenger load.</a:t>
            </a:r>
            <a:endParaRPr lang="en-US" sz="960" dirty="0"/>
          </a:p>
        </p:txBody>
      </p:sp>
      <p:sp>
        <p:nvSpPr>
          <p:cNvPr id="26" name="Text 19"/>
          <p:cNvSpPr/>
          <p:nvPr/>
        </p:nvSpPr>
        <p:spPr>
          <a:xfrm>
            <a:off x="457200" y="3349972"/>
            <a:ext cx="8229600" cy="560040"/>
          </a:xfrm>
          <a:prstGeom prst="roundRect">
            <a:avLst>
              <a:gd name="adj" fmla="val 15420"/>
            </a:avLst>
          </a:prstGeom>
          <a:gradFill rotWithShape="1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75000"/>
                </a:srgbClr>
              </a:gs>
            </a:gsLst>
            <a:lin ang="2700000" scaled="1"/>
          </a:gradFill>
          <a:ln w="9525">
            <a:solidFill>
              <a:srgbClr val="2980B9">
                <a:alpha val="18000"/>
              </a:srgbClr>
            </a:solidFill>
          </a:ln>
          <a:effectLst>
            <a:outerShdw blurRad="29210" dist="762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638175" y="3481388"/>
            <a:ext cx="304800" cy="304800"/>
          </a:xfrm>
          <a:prstGeom prst="roundRect">
            <a:avLst>
              <a:gd name="adj" fmla="val 23333"/>
            </a:avLst>
          </a:prstGeom>
          <a:solidFill>
            <a:srgbClr val="2980B9">
              <a:alpha val="10000"/>
            </a:srgbClr>
          </a:solidFill>
          <a:ln w="9525">
            <a:solidFill>
              <a:srgbClr val="2980B9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207" y="3567419"/>
            <a:ext cx="132588" cy="132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86445" y="3473797"/>
            <a:ext cx="6675641" cy="196602"/>
          </a:xfrm>
          <a:prstGeom prst="rect">
            <a:avLst/>
          </a:prstGeom>
          <a:noFill/>
          <a:ln/>
        </p:spPr>
        <p:txBody>
          <a:bodyPr wrap="none" lIns="0" tIns="1397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significantly more trips than </a:t>
            </a: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seasonal or data collection effects should be investigated.</a:t>
            </a:r>
            <a:endParaRPr lang="en-US" sz="960" dirty="0"/>
          </a:p>
        </p:txBody>
      </p:sp>
      <p:sp>
        <p:nvSpPr>
          <p:cNvPr id="30" name="Text 22"/>
          <p:cNvSpPr/>
          <p:nvPr/>
        </p:nvSpPr>
        <p:spPr>
          <a:xfrm>
            <a:off x="457200" y="3996333"/>
            <a:ext cx="8229600" cy="560040"/>
          </a:xfrm>
          <a:prstGeom prst="roundRect">
            <a:avLst>
              <a:gd name="adj" fmla="val 15420"/>
            </a:avLst>
          </a:prstGeom>
          <a:gradFill rotWithShape="1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75000"/>
                </a:srgbClr>
              </a:gs>
            </a:gsLst>
            <a:lin ang="2700000" scaled="1"/>
          </a:gradFill>
          <a:ln w="9525">
            <a:solidFill>
              <a:srgbClr val="2980B9">
                <a:alpha val="18000"/>
              </a:srgbClr>
            </a:solidFill>
          </a:ln>
          <a:effectLst>
            <a:outerShdw blurRad="29210" dist="762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638175" y="4127748"/>
            <a:ext cx="304800" cy="304800"/>
          </a:xfrm>
          <a:prstGeom prst="roundRect">
            <a:avLst>
              <a:gd name="adj" fmla="val 23333"/>
            </a:avLst>
          </a:prstGeom>
          <a:solidFill>
            <a:srgbClr val="2980B9">
              <a:alpha val="10000"/>
            </a:srgbClr>
          </a:solidFill>
          <a:ln w="9525">
            <a:solidFill>
              <a:srgbClr val="2980B9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207" y="4213780"/>
            <a:ext cx="132588" cy="132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86445" y="4120158"/>
            <a:ext cx="6893213" cy="196602"/>
          </a:xfrm>
          <a:prstGeom prst="rect">
            <a:avLst/>
          </a:prstGeom>
          <a:noFill/>
          <a:ln/>
        </p:spPr>
        <p:txBody>
          <a:bodyPr wrap="none" lIns="0" tIns="1397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passenger occupancy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trip suggests potential for </a:t>
            </a: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optimization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demand stimulation strategies.</a:t>
            </a:r>
            <a:endParaRPr lang="en-US" sz="960" dirty="0"/>
          </a:p>
        </p:txBody>
      </p:sp>
      <p:sp>
        <p:nvSpPr>
          <p:cNvPr id="34" name="Text 25"/>
          <p:cNvSpPr/>
          <p:nvPr/>
        </p:nvSpPr>
        <p:spPr>
          <a:xfrm>
            <a:off x="0" y="4876205"/>
            <a:ext cx="9144000" cy="26729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0" y="4876205"/>
            <a:ext cx="9144000" cy="9525"/>
          </a:xfrm>
          <a:prstGeom prst="rect">
            <a:avLst/>
          </a:prstGeom>
          <a:solidFill>
            <a:srgbClr val="2980B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457200" y="4971752"/>
            <a:ext cx="178264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METROMOVE TRANSIT SOLUTIONS</a:t>
            </a:r>
            <a:endParaRPr lang="en-US" sz="620" dirty="0"/>
          </a:p>
        </p:txBody>
      </p:sp>
      <p:sp>
        <p:nvSpPr>
          <p:cNvPr id="37" name="Text 28"/>
          <p:cNvSpPr/>
          <p:nvPr/>
        </p:nvSpPr>
        <p:spPr>
          <a:xfrm>
            <a:off x="7241977" y="4971752"/>
            <a:ext cx="158930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6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980B9"/>
              </a:gs>
              <a:gs pos="70000">
                <a:srgbClr val="2980B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980B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980B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00750" y="0"/>
            <a:ext cx="3143250" cy="2715220"/>
          </a:xfrm>
          <a:prstGeom prst="rect">
            <a:avLst/>
          </a:prstGeom>
          <a:gradFill rotWithShape="1">
            <a:gsLst>
              <a:gs pos="0">
                <a:srgbClr val="2980B9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3000970"/>
            <a:ext cx="2286000" cy="2142530"/>
          </a:xfrm>
          <a:prstGeom prst="rect">
            <a:avLst/>
          </a:prstGeom>
          <a:gradFill rotWithShape="1">
            <a:gsLst>
              <a:gs pos="0">
                <a:srgbClr val="2980B9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alphaModFix amt="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5238" y="1000720"/>
            <a:ext cx="1071563" cy="10715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3875" y="1807964"/>
            <a:ext cx="29170" cy="706041"/>
          </a:xfrm>
          <a:custGeom>
            <a:avLst/>
            <a:gdLst/>
            <a:ahLst/>
            <a:cxnLst/>
            <a:rect l="l" t="t" r="r" b="b"/>
            <a:pathLst>
              <a:path w="29170" h="706041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684391"/>
                </a:lnTo>
                <a:lnTo>
                  <a:pt x="25524" y="680975"/>
                </a:lnTo>
                <a:lnTo>
                  <a:pt x="21878" y="677127"/>
                </a:lnTo>
                <a:lnTo>
                  <a:pt x="18231" y="672752"/>
                </a:lnTo>
                <a:lnTo>
                  <a:pt x="14585" y="667706"/>
                </a:lnTo>
                <a:lnTo>
                  <a:pt x="10939" y="661748"/>
                </a:lnTo>
                <a:lnTo>
                  <a:pt x="7293" y="654414"/>
                </a:lnTo>
                <a:lnTo>
                  <a:pt x="3646" y="644510"/>
                </a:lnTo>
                <a:lnTo>
                  <a:pt x="0" y="619681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23875" y="2647355"/>
            <a:ext cx="29170" cy="706041"/>
          </a:xfrm>
          <a:custGeom>
            <a:avLst/>
            <a:gdLst/>
            <a:ahLst/>
            <a:cxnLst/>
            <a:rect l="l" t="t" r="r" b="b"/>
            <a:pathLst>
              <a:path w="29170" h="706041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684391"/>
                </a:lnTo>
                <a:lnTo>
                  <a:pt x="25524" y="680975"/>
                </a:lnTo>
                <a:lnTo>
                  <a:pt x="21878" y="677127"/>
                </a:lnTo>
                <a:lnTo>
                  <a:pt x="18231" y="672752"/>
                </a:lnTo>
                <a:lnTo>
                  <a:pt x="14585" y="667706"/>
                </a:lnTo>
                <a:lnTo>
                  <a:pt x="10939" y="661748"/>
                </a:lnTo>
                <a:lnTo>
                  <a:pt x="7293" y="654414"/>
                </a:lnTo>
                <a:lnTo>
                  <a:pt x="3646" y="644510"/>
                </a:lnTo>
                <a:lnTo>
                  <a:pt x="0" y="619681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23875" y="3486745"/>
            <a:ext cx="29170" cy="706041"/>
          </a:xfrm>
          <a:custGeom>
            <a:avLst/>
            <a:gdLst/>
            <a:ahLst/>
            <a:cxnLst/>
            <a:rect l="l" t="t" r="r" b="b"/>
            <a:pathLst>
              <a:path w="29170" h="706041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684391"/>
                </a:lnTo>
                <a:lnTo>
                  <a:pt x="25524" y="680975"/>
                </a:lnTo>
                <a:lnTo>
                  <a:pt x="21878" y="677127"/>
                </a:lnTo>
                <a:lnTo>
                  <a:pt x="18231" y="672752"/>
                </a:lnTo>
                <a:lnTo>
                  <a:pt x="14585" y="667706"/>
                </a:lnTo>
                <a:lnTo>
                  <a:pt x="10939" y="661748"/>
                </a:lnTo>
                <a:lnTo>
                  <a:pt x="7293" y="654414"/>
                </a:lnTo>
                <a:lnTo>
                  <a:pt x="3646" y="644510"/>
                </a:lnTo>
                <a:lnTo>
                  <a:pt x="0" y="619681"/>
                </a:lnTo>
                <a:close/>
              </a:path>
            </a:pathLst>
          </a:custGeom>
          <a:solidFill>
            <a:srgbClr val="2980B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>
            <a:off x="7571780" y="3600896"/>
            <a:ext cx="1286470" cy="1275904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066" y="433992"/>
            <a:ext cx="132588" cy="132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8691" y="447973"/>
            <a:ext cx="248480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73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8429030" y="400050"/>
            <a:ext cx="200620" cy="2006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4350" y="657820"/>
            <a:ext cx="868337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spcAft>
                <a:spcPts val="230"/>
              </a:spcAft>
              <a:buNone/>
            </a:pPr>
            <a:r>
              <a:rPr lang="en-US" sz="1580" dirty="0">
                <a:solidFill>
                  <a:srgbClr val="5A6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-- Next Steps --</a:t>
            </a:r>
            <a:endParaRPr lang="en-US" sz="1580" dirty="0"/>
          </a:p>
        </p:txBody>
      </p:sp>
      <p:sp>
        <p:nvSpPr>
          <p:cNvPr id="16" name="Text 10"/>
          <p:cNvSpPr/>
          <p:nvPr/>
        </p:nvSpPr>
        <p:spPr>
          <a:xfrm>
            <a:off x="514350" y="1001911"/>
            <a:ext cx="8521065" cy="409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23"/>
              </a:lnSpc>
              <a:buNone/>
            </a:pPr>
            <a:r>
              <a:rPr lang="en-US" sz="2930" b="1" kern="0" spc="-30" dirty="0">
                <a:solidFill>
                  <a:srgbClr val="2980B9"/>
                </a:solidFill>
                <a:latin typeface="Britannic Bold" panose="020B0903060703020204" pitchFamily="34" charset="0"/>
                <a:ea typeface="Calibri Light" pitchFamily="34" charset="-122"/>
                <a:cs typeface="Calibri Light" pitchFamily="34" charset="-120"/>
              </a:rPr>
              <a:t>From Data to Decision</a:t>
            </a:r>
            <a:endParaRPr lang="en-US" sz="2930" dirty="0">
              <a:latin typeface="Britannic Bold" panose="020B090306070302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14350" y="1511498"/>
            <a:ext cx="571500" cy="29170"/>
          </a:xfrm>
          <a:prstGeom prst="roundRect">
            <a:avLst>
              <a:gd name="adj" fmla="val 47892"/>
            </a:avLst>
          </a:prstGeom>
          <a:solidFill>
            <a:srgbClr val="2980B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514350" y="1798439"/>
            <a:ext cx="8115300" cy="725091"/>
          </a:xfrm>
          <a:prstGeom prst="roundRect">
            <a:avLst>
              <a:gd name="adj" fmla="val 11910"/>
            </a:avLst>
          </a:prstGeom>
          <a:solidFill>
            <a:srgbClr val="FFFFFF"/>
          </a:solidFill>
          <a:ln w="9525">
            <a:solidFill>
              <a:srgbClr val="2980B9">
                <a:alpha val="18000"/>
              </a:srgbClr>
            </a:solidFill>
          </a:ln>
          <a:effectLst>
            <a:outerShdw blurRad="5715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52475" y="2008584"/>
            <a:ext cx="304800" cy="335280"/>
          </a:xfrm>
          <a:prstGeom prst="roundRect">
            <a:avLst>
              <a:gd name="adj" fmla="val 23333"/>
            </a:avLst>
          </a:prstGeom>
          <a:solidFill>
            <a:srgbClr val="2980B9">
              <a:alpha val="10000"/>
            </a:srgbClr>
          </a:solidFill>
          <a:ln w="9525">
            <a:solidFill>
              <a:srgbClr val="2980B9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13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3462" y="2030471"/>
            <a:ext cx="132588" cy="132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9076" y="2008584"/>
            <a:ext cx="573119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January–February trip imbalance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distinguish seasonal demand from data gaps.</a:t>
            </a:r>
            <a:endParaRPr lang="en-US" sz="960" dirty="0"/>
          </a:p>
        </p:txBody>
      </p:sp>
      <p:sp>
        <p:nvSpPr>
          <p:cNvPr id="22" name="Text 15"/>
          <p:cNvSpPr/>
          <p:nvPr/>
        </p:nvSpPr>
        <p:spPr>
          <a:xfrm>
            <a:off x="514350" y="2637830"/>
            <a:ext cx="8115300" cy="725091"/>
          </a:xfrm>
          <a:prstGeom prst="roundRect">
            <a:avLst>
              <a:gd name="adj" fmla="val 11910"/>
            </a:avLst>
          </a:prstGeom>
          <a:solidFill>
            <a:srgbClr val="FFFFFF"/>
          </a:solidFill>
          <a:ln w="9525">
            <a:solidFill>
              <a:srgbClr val="2980B9">
                <a:alpha val="18000"/>
              </a:srgbClr>
            </a:solidFill>
          </a:ln>
          <a:effectLst>
            <a:outerShdw blurRad="5715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52475" y="2847975"/>
            <a:ext cx="304800" cy="335280"/>
          </a:xfrm>
          <a:prstGeom prst="roundRect">
            <a:avLst>
              <a:gd name="adj" fmla="val 23333"/>
            </a:avLst>
          </a:prstGeom>
          <a:solidFill>
            <a:srgbClr val="2980B9">
              <a:alpha val="10000"/>
            </a:srgbClr>
          </a:solidFill>
          <a:ln w="9525">
            <a:solidFill>
              <a:srgbClr val="2980B9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13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3462" y="2869862"/>
            <a:ext cx="132588" cy="132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19076" y="2847975"/>
            <a:ext cx="549168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route-level optimization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high-demand station pairs (Central ↔ Airport corridor).</a:t>
            </a:r>
            <a:endParaRPr lang="en-US" sz="960" dirty="0"/>
          </a:p>
        </p:txBody>
      </p:sp>
      <p:sp>
        <p:nvSpPr>
          <p:cNvPr id="26" name="Text 18"/>
          <p:cNvSpPr/>
          <p:nvPr/>
        </p:nvSpPr>
        <p:spPr>
          <a:xfrm>
            <a:off x="514350" y="3477220"/>
            <a:ext cx="8115300" cy="725091"/>
          </a:xfrm>
          <a:prstGeom prst="roundRect">
            <a:avLst>
              <a:gd name="adj" fmla="val 11910"/>
            </a:avLst>
          </a:prstGeom>
          <a:solidFill>
            <a:srgbClr val="FFFFFF"/>
          </a:solidFill>
          <a:ln w="9525">
            <a:solidFill>
              <a:srgbClr val="2980B9">
                <a:alpha val="18000"/>
              </a:srgbClr>
            </a:solidFill>
          </a:ln>
          <a:effectLst>
            <a:outerShdw blurRad="57150" dist="13970" dir="5400000" algn="bl" rotWithShape="0">
              <a:srgbClr val="1A2332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752475" y="3687366"/>
            <a:ext cx="304800" cy="335280"/>
          </a:xfrm>
          <a:prstGeom prst="roundRect">
            <a:avLst>
              <a:gd name="adj" fmla="val 23333"/>
            </a:avLst>
          </a:prstGeom>
          <a:solidFill>
            <a:srgbClr val="2980B9">
              <a:alpha val="10000"/>
            </a:srgbClr>
          </a:solidFill>
          <a:ln w="9525">
            <a:solidFill>
              <a:srgbClr val="2980B9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980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13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3462" y="3709252"/>
            <a:ext cx="132588" cy="1325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19076" y="3687366"/>
            <a:ext cx="673703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fare structure flexibility</a:t>
            </a:r>
            <a:r>
              <a:rPr lang="en-US" sz="9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consider dynamic pricing or occupancy-based incentives to boost ridership.</a:t>
            </a:r>
            <a:endParaRPr lang="en-US" sz="960" dirty="0"/>
          </a:p>
        </p:txBody>
      </p:sp>
      <p:sp>
        <p:nvSpPr>
          <p:cNvPr id="30" name="Text 21"/>
          <p:cNvSpPr/>
          <p:nvPr/>
        </p:nvSpPr>
        <p:spPr>
          <a:xfrm>
            <a:off x="514350" y="4544764"/>
            <a:ext cx="8115300" cy="9525"/>
          </a:xfrm>
          <a:prstGeom prst="rect">
            <a:avLst/>
          </a:prstGeom>
          <a:solidFill>
            <a:srgbClr val="2980B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857" y="4711461"/>
            <a:ext cx="132588" cy="13258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22263" y="4697760"/>
            <a:ext cx="545795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these EDA insights to drive operational improvements at </a:t>
            </a:r>
            <a:r>
              <a:rPr lang="en-US" sz="840" b="1" kern="0" spc="2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MetroMove Transit Solutions</a:t>
            </a:r>
            <a:r>
              <a:rPr lang="en-US" sz="840" kern="0" spc="2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4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22217" y="4711386"/>
            <a:ext cx="132588" cy="13258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174534" y="4730055"/>
            <a:ext cx="50062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Report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982</Words>
  <Application>Microsoft Office PowerPoint</Application>
  <PresentationFormat>On-screen Show (16:9)</PresentationFormat>
  <Paragraphs>162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Britannic Bold</vt:lpstr>
      <vt:lpstr>Calibri</vt:lpstr>
      <vt:lpstr>Calibri Light</vt:lpstr>
      <vt:lpstr>Office Theme</vt:lpstr>
      <vt:lpstr>Exploratory Data Analysis - Key Findings</vt:lpstr>
      <vt:lpstr>PowerPoint Presentation</vt:lpstr>
      <vt:lpstr>PowerPoint Presentation</vt:lpstr>
      <vt:lpstr>PowerPoint Presentation</vt:lpstr>
      <vt:lpstr>Data Info Following Data Cleaning</vt:lpstr>
      <vt:lpstr>Months Captured on Data Set</vt:lpstr>
      <vt:lpstr>Insights Generated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Joseph Odu</cp:lastModifiedBy>
  <cp:revision>13</cp:revision>
  <dcterms:created xsi:type="dcterms:W3CDTF">2026-04-17T21:51:32Z</dcterms:created>
  <dcterms:modified xsi:type="dcterms:W3CDTF">2026-04-26T00:33:11Z</dcterms:modified>
</cp:coreProperties>
</file>